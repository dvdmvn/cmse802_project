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33"/>
  </p:notesMasterIdLst>
  <p:sldIdLst>
    <p:sldId id="256" r:id="rId2"/>
    <p:sldId id="258" r:id="rId3"/>
    <p:sldId id="260" r:id="rId4"/>
    <p:sldId id="261" r:id="rId5"/>
    <p:sldId id="262" r:id="rId6"/>
    <p:sldId id="296" r:id="rId7"/>
    <p:sldId id="305" r:id="rId8"/>
    <p:sldId id="313" r:id="rId9"/>
    <p:sldId id="299" r:id="rId10"/>
    <p:sldId id="309" r:id="rId11"/>
    <p:sldId id="264" r:id="rId12"/>
    <p:sldId id="314" r:id="rId13"/>
    <p:sldId id="300" r:id="rId14"/>
    <p:sldId id="310" r:id="rId15"/>
    <p:sldId id="317" r:id="rId16"/>
    <p:sldId id="318" r:id="rId17"/>
    <p:sldId id="319" r:id="rId18"/>
    <p:sldId id="315" r:id="rId19"/>
    <p:sldId id="301" r:id="rId20"/>
    <p:sldId id="311" r:id="rId21"/>
    <p:sldId id="323" r:id="rId22"/>
    <p:sldId id="302" r:id="rId23"/>
    <p:sldId id="298" r:id="rId24"/>
    <p:sldId id="321" r:id="rId25"/>
    <p:sldId id="320" r:id="rId26"/>
    <p:sldId id="297" r:id="rId27"/>
    <p:sldId id="265" r:id="rId28"/>
    <p:sldId id="322" r:id="rId29"/>
    <p:sldId id="263" r:id="rId30"/>
    <p:sldId id="275" r:id="rId31"/>
    <p:sldId id="277" r:id="rId3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Karla" pitchFamily="2" charset="0"/>
      <p:regular r:id="rId38"/>
      <p:bold r:id="rId39"/>
      <p:italic r:id="rId40"/>
      <p:boldItalic r:id="rId41"/>
    </p:embeddedFont>
    <p:embeddedFont>
      <p:font typeface="Manrope" panose="020B0604020202020204" charset="0"/>
      <p:regular r:id="rId42"/>
      <p:bold r:id="rId43"/>
    </p:embeddedFont>
    <p:embeddedFont>
      <p:font typeface="Nunito Light" pitchFamily="2" charset="0"/>
      <p:regular r:id="rId44"/>
      <p:italic r:id="rId45"/>
    </p:embeddedFont>
    <p:embeddedFont>
      <p:font typeface="PT Sans" panose="020B0503020203020204" pitchFamily="34" charset="0"/>
      <p:regular r:id="rId46"/>
      <p:bold r:id="rId47"/>
      <p:italic r:id="rId48"/>
      <p:boldItalic r:id="rId49"/>
    </p:embeddedFont>
    <p:embeddedFont>
      <p:font typeface="Raleway" pitchFamily="2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24AB8F-7802-4B2D-9589-60E098C7138B}">
  <a:tblStyle styleId="{C124AB8F-7802-4B2D-9589-60E098C713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4A25195-9C7C-4FC8-9B17-7DC78DBB608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0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font" Target="fonts/font20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9392ecae3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9392ecae3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9392ecae3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9392ecae3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703F9CA1-E9A4-0484-5724-9C6AD91B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9392ecae37_0_1:notes">
            <a:extLst>
              <a:ext uri="{FF2B5EF4-FFF2-40B4-BE49-F238E27FC236}">
                <a16:creationId xmlns:a16="http://schemas.microsoft.com/office/drawing/2014/main" id="{F052ECED-B0A0-6DE9-34C5-AC80C6A7BD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9392ecae37_0_1:notes">
            <a:extLst>
              <a:ext uri="{FF2B5EF4-FFF2-40B4-BE49-F238E27FC236}">
                <a16:creationId xmlns:a16="http://schemas.microsoft.com/office/drawing/2014/main" id="{FDF4114C-84D0-1140-5F12-FCBFD9B6A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1438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E62BDBCE-B0FE-4AF7-DAFC-972C59E2B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54dda1946d_6_332:notes">
            <a:extLst>
              <a:ext uri="{FF2B5EF4-FFF2-40B4-BE49-F238E27FC236}">
                <a16:creationId xmlns:a16="http://schemas.microsoft.com/office/drawing/2014/main" id="{876385F3-1E71-5E3D-2C12-65FA0D578A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54dda1946d_6_332:notes">
            <a:extLst>
              <a:ext uri="{FF2B5EF4-FFF2-40B4-BE49-F238E27FC236}">
                <a16:creationId xmlns:a16="http://schemas.microsoft.com/office/drawing/2014/main" id="{603D4EA9-20A2-30CE-8EA0-211E311299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1579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BA2E8EE5-06F2-BE74-A94D-22AF7AE2A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9392ecae37_0_396:notes">
            <a:extLst>
              <a:ext uri="{FF2B5EF4-FFF2-40B4-BE49-F238E27FC236}">
                <a16:creationId xmlns:a16="http://schemas.microsoft.com/office/drawing/2014/main" id="{7D5BECB9-7D5F-ADDC-5806-AC95AFE022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9392ecae37_0_396:notes">
            <a:extLst>
              <a:ext uri="{FF2B5EF4-FFF2-40B4-BE49-F238E27FC236}">
                <a16:creationId xmlns:a16="http://schemas.microsoft.com/office/drawing/2014/main" id="{7F7C1AA2-FD5D-71D9-2312-DEBE18FEBF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5537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B935A735-EC7D-D082-FD2D-278CDE402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9392ecae37_0_1:notes">
            <a:extLst>
              <a:ext uri="{FF2B5EF4-FFF2-40B4-BE49-F238E27FC236}">
                <a16:creationId xmlns:a16="http://schemas.microsoft.com/office/drawing/2014/main" id="{3CDC33BD-AB63-730C-9299-B2ED23B4B6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9392ecae37_0_1:notes">
            <a:extLst>
              <a:ext uri="{FF2B5EF4-FFF2-40B4-BE49-F238E27FC236}">
                <a16:creationId xmlns:a16="http://schemas.microsoft.com/office/drawing/2014/main" id="{9DB883B3-287B-2E1E-6CAD-C00288D88D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7940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5C0B30C7-603B-9B3A-62B8-1C4B23781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9392ecae37_0_54:notes">
            <a:extLst>
              <a:ext uri="{FF2B5EF4-FFF2-40B4-BE49-F238E27FC236}">
                <a16:creationId xmlns:a16="http://schemas.microsoft.com/office/drawing/2014/main" id="{8C9BE344-A36F-864C-47D3-86A51F4A39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9392ecae37_0_54:notes">
            <a:extLst>
              <a:ext uri="{FF2B5EF4-FFF2-40B4-BE49-F238E27FC236}">
                <a16:creationId xmlns:a16="http://schemas.microsoft.com/office/drawing/2014/main" id="{2443FBD3-B3FA-B448-F4CE-23DB88CE3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337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9392ecae3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9392ecae3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8259D43D-8E7E-5194-96D2-311A992DC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9392ecae37_0_29:notes">
            <a:extLst>
              <a:ext uri="{FF2B5EF4-FFF2-40B4-BE49-F238E27FC236}">
                <a16:creationId xmlns:a16="http://schemas.microsoft.com/office/drawing/2014/main" id="{19CC0DD5-7D79-A903-7E2E-220144F936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9392ecae37_0_29:notes">
            <a:extLst>
              <a:ext uri="{FF2B5EF4-FFF2-40B4-BE49-F238E27FC236}">
                <a16:creationId xmlns:a16="http://schemas.microsoft.com/office/drawing/2014/main" id="{4BBB3370-3E94-D53D-6B46-BC82A17C6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5720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1B2FA6CF-CA88-A5CC-7F83-7844883D5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9392ecae37_0_1:notes">
            <a:extLst>
              <a:ext uri="{FF2B5EF4-FFF2-40B4-BE49-F238E27FC236}">
                <a16:creationId xmlns:a16="http://schemas.microsoft.com/office/drawing/2014/main" id="{99BD970A-79BB-F478-50C6-84EF928A8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9392ecae37_0_1:notes">
            <a:extLst>
              <a:ext uri="{FF2B5EF4-FFF2-40B4-BE49-F238E27FC236}">
                <a16:creationId xmlns:a16="http://schemas.microsoft.com/office/drawing/2014/main" id="{5809177C-8220-B6D1-EF0F-3539160B4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0844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3B838302-1663-9664-5E07-4B321BB29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9392ecae37_0_54:notes">
            <a:extLst>
              <a:ext uri="{FF2B5EF4-FFF2-40B4-BE49-F238E27FC236}">
                <a16:creationId xmlns:a16="http://schemas.microsoft.com/office/drawing/2014/main" id="{CE6C5087-2518-DD2E-AE62-640841010F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9392ecae37_0_54:notes">
            <a:extLst>
              <a:ext uri="{FF2B5EF4-FFF2-40B4-BE49-F238E27FC236}">
                <a16:creationId xmlns:a16="http://schemas.microsoft.com/office/drawing/2014/main" id="{8B890A8C-EFAC-2F77-707B-7E0AFA825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71402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EC16416A-576A-F89C-1F13-77A07DFC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9392ecae37_0_54:notes">
            <a:extLst>
              <a:ext uri="{FF2B5EF4-FFF2-40B4-BE49-F238E27FC236}">
                <a16:creationId xmlns:a16="http://schemas.microsoft.com/office/drawing/2014/main" id="{F7BAA1FD-6824-2F9E-56C8-AC63A7C43A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9392ecae37_0_54:notes">
            <a:extLst>
              <a:ext uri="{FF2B5EF4-FFF2-40B4-BE49-F238E27FC236}">
                <a16:creationId xmlns:a16="http://schemas.microsoft.com/office/drawing/2014/main" id="{E768BAC9-C34B-E466-EFFB-C4C1B00A5C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27951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F16BBB5D-3321-E889-756F-CC0774DB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9392ecae37_0_54:notes">
            <a:extLst>
              <a:ext uri="{FF2B5EF4-FFF2-40B4-BE49-F238E27FC236}">
                <a16:creationId xmlns:a16="http://schemas.microsoft.com/office/drawing/2014/main" id="{AF24EB44-4DB1-58C6-532B-D7A8016889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9392ecae37_0_54:notes">
            <a:extLst>
              <a:ext uri="{FF2B5EF4-FFF2-40B4-BE49-F238E27FC236}">
                <a16:creationId xmlns:a16="http://schemas.microsoft.com/office/drawing/2014/main" id="{3083C4FA-075C-8541-3B40-1054EB19D7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486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BB81DBF1-B639-829E-7F94-47A480846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9392ecae37_0_54:notes">
            <a:extLst>
              <a:ext uri="{FF2B5EF4-FFF2-40B4-BE49-F238E27FC236}">
                <a16:creationId xmlns:a16="http://schemas.microsoft.com/office/drawing/2014/main" id="{4C91D2A2-7864-D81C-58A1-86400955C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9392ecae37_0_54:notes">
            <a:extLst>
              <a:ext uri="{FF2B5EF4-FFF2-40B4-BE49-F238E27FC236}">
                <a16:creationId xmlns:a16="http://schemas.microsoft.com/office/drawing/2014/main" id="{2D64A8FA-AF06-68CD-6453-E44A38EC29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51406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FE222296-677E-E476-E0BD-E95933CA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9392ecae37_0_54:notes">
            <a:extLst>
              <a:ext uri="{FF2B5EF4-FFF2-40B4-BE49-F238E27FC236}">
                <a16:creationId xmlns:a16="http://schemas.microsoft.com/office/drawing/2014/main" id="{305023E3-9836-C26D-AC31-4BF048505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9392ecae37_0_54:notes">
            <a:extLst>
              <a:ext uri="{FF2B5EF4-FFF2-40B4-BE49-F238E27FC236}">
                <a16:creationId xmlns:a16="http://schemas.microsoft.com/office/drawing/2014/main" id="{E59F7060-81CF-A4AD-ED20-4D4F3E1DC1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68230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BDD2CF52-9111-5B75-2526-A87B0265B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9392ecae37_0_1:notes">
            <a:extLst>
              <a:ext uri="{FF2B5EF4-FFF2-40B4-BE49-F238E27FC236}">
                <a16:creationId xmlns:a16="http://schemas.microsoft.com/office/drawing/2014/main" id="{028EACD9-2476-F476-FDAB-84E1E21A6A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9392ecae37_0_1:notes">
            <a:extLst>
              <a:ext uri="{FF2B5EF4-FFF2-40B4-BE49-F238E27FC236}">
                <a16:creationId xmlns:a16="http://schemas.microsoft.com/office/drawing/2014/main" id="{E0F9236F-B969-68D9-9DE3-C7A18F0BE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4851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DAE8F943-479A-BA55-5A9B-34B50E5CA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9392ecae37_0_54:notes">
            <a:extLst>
              <a:ext uri="{FF2B5EF4-FFF2-40B4-BE49-F238E27FC236}">
                <a16:creationId xmlns:a16="http://schemas.microsoft.com/office/drawing/2014/main" id="{918C3E7E-99A8-258A-92EC-E1F015113C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9392ecae37_0_54:notes">
            <a:extLst>
              <a:ext uri="{FF2B5EF4-FFF2-40B4-BE49-F238E27FC236}">
                <a16:creationId xmlns:a16="http://schemas.microsoft.com/office/drawing/2014/main" id="{1394DF67-5276-C198-B363-3C4B5062FC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43685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B93849E3-AA93-2FC5-4E3E-B249E05E1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9392ecae37_0_54:notes">
            <a:extLst>
              <a:ext uri="{FF2B5EF4-FFF2-40B4-BE49-F238E27FC236}">
                <a16:creationId xmlns:a16="http://schemas.microsoft.com/office/drawing/2014/main" id="{6448D471-C272-C722-8E1D-AB01AC8B20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9392ecae37_0_54:notes">
            <a:extLst>
              <a:ext uri="{FF2B5EF4-FFF2-40B4-BE49-F238E27FC236}">
                <a16:creationId xmlns:a16="http://schemas.microsoft.com/office/drawing/2014/main" id="{9C7C781B-6AF1-8FE4-C723-7BCE5D6EA6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99372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B00BAE12-E9B0-2830-3349-7BAFEC946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9392ecae37_0_1:notes">
            <a:extLst>
              <a:ext uri="{FF2B5EF4-FFF2-40B4-BE49-F238E27FC236}">
                <a16:creationId xmlns:a16="http://schemas.microsoft.com/office/drawing/2014/main" id="{26E2B9AC-ED47-B9B9-E955-93DE02D608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9392ecae37_0_1:notes">
            <a:extLst>
              <a:ext uri="{FF2B5EF4-FFF2-40B4-BE49-F238E27FC236}">
                <a16:creationId xmlns:a16="http://schemas.microsoft.com/office/drawing/2014/main" id="{89D61A28-9DA1-3704-F83D-64E6B58DC2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17316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E4D7AF43-C3F8-7883-3D52-9674DA369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54dda1946d_6_322:notes">
            <a:extLst>
              <a:ext uri="{FF2B5EF4-FFF2-40B4-BE49-F238E27FC236}">
                <a16:creationId xmlns:a16="http://schemas.microsoft.com/office/drawing/2014/main" id="{08F80EBD-ADF6-7A76-F241-3B59CB22E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54dda1946d_6_322:notes">
            <a:extLst>
              <a:ext uri="{FF2B5EF4-FFF2-40B4-BE49-F238E27FC236}">
                <a16:creationId xmlns:a16="http://schemas.microsoft.com/office/drawing/2014/main" id="{646A246D-3BA2-0381-1404-2A6EF1E7B6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26023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C73BC6A2-0D2F-F2AE-D8FB-8FC8954F0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54dda1946d_6_322:notes">
            <a:extLst>
              <a:ext uri="{FF2B5EF4-FFF2-40B4-BE49-F238E27FC236}">
                <a16:creationId xmlns:a16="http://schemas.microsoft.com/office/drawing/2014/main" id="{90FF6CE6-4E00-77E8-B108-0CD570A43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54dda1946d_6_322:notes">
            <a:extLst>
              <a:ext uri="{FF2B5EF4-FFF2-40B4-BE49-F238E27FC236}">
                <a16:creationId xmlns:a16="http://schemas.microsoft.com/office/drawing/2014/main" id="{5EEF47D8-2A77-1B54-CCD7-E097212C78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10621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12E7FBC3-6C7C-3F56-3EA1-8AA1BA796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54dda1946d_6_322:notes">
            <a:extLst>
              <a:ext uri="{FF2B5EF4-FFF2-40B4-BE49-F238E27FC236}">
                <a16:creationId xmlns:a16="http://schemas.microsoft.com/office/drawing/2014/main" id="{A8E82317-A828-3382-9296-9729A56099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54dda1946d_6_322:notes">
            <a:extLst>
              <a:ext uri="{FF2B5EF4-FFF2-40B4-BE49-F238E27FC236}">
                <a16:creationId xmlns:a16="http://schemas.microsoft.com/office/drawing/2014/main" id="{4ECE1796-B6D7-8C33-5F64-BE5BDC27D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11430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D1498B2A-85FD-1771-553B-DB39530CF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54dda1946d_6_332:notes">
            <a:extLst>
              <a:ext uri="{FF2B5EF4-FFF2-40B4-BE49-F238E27FC236}">
                <a16:creationId xmlns:a16="http://schemas.microsoft.com/office/drawing/2014/main" id="{BC883B78-73BB-2673-EF44-474089A893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54dda1946d_6_332:notes">
            <a:extLst>
              <a:ext uri="{FF2B5EF4-FFF2-40B4-BE49-F238E27FC236}">
                <a16:creationId xmlns:a16="http://schemas.microsoft.com/office/drawing/2014/main" id="{3E04FF65-C5E2-CF73-C957-41F8969D66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44863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9392ecae37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9392ecae37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6991FFE7-4F5B-6C19-984E-195A2A295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54dda1946d_6_332:notes">
            <a:extLst>
              <a:ext uri="{FF2B5EF4-FFF2-40B4-BE49-F238E27FC236}">
                <a16:creationId xmlns:a16="http://schemas.microsoft.com/office/drawing/2014/main" id="{274BE137-FB64-45C2-2F66-C47A722DDD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54dda1946d_6_332:notes">
            <a:extLst>
              <a:ext uri="{FF2B5EF4-FFF2-40B4-BE49-F238E27FC236}">
                <a16:creationId xmlns:a16="http://schemas.microsoft.com/office/drawing/2014/main" id="{64B3351A-2C54-03EA-A2F5-6BAC6B00B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7294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9392ecae3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9392ecae3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9392ecae37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9392ecae37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8e17bb89f5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8e17bb89f5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0650" y="2315300"/>
            <a:ext cx="6260100" cy="173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170650" y="40520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713225" y="534400"/>
            <a:ext cx="1048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 flipH="1">
            <a:off x="713225" y="2727750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205625" y="1584150"/>
            <a:ext cx="1891200" cy="129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>
            <a:spLocks noGrp="1"/>
          </p:cNvSpPr>
          <p:nvPr>
            <p:ph type="pic" idx="3"/>
          </p:nvPr>
        </p:nvSpPr>
        <p:spPr>
          <a:xfrm>
            <a:off x="6506200" y="1584150"/>
            <a:ext cx="2643300" cy="355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6" name="Google Shape;16;p3"/>
          <p:cNvCxnSpPr/>
          <p:nvPr/>
        </p:nvCxnSpPr>
        <p:spPr>
          <a:xfrm rot="10800000">
            <a:off x="7381975" y="539500"/>
            <a:ext cx="1048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4"/>
          <p:cNvGrpSpPr/>
          <p:nvPr/>
        </p:nvGrpSpPr>
        <p:grpSpPr>
          <a:xfrm>
            <a:off x="0" y="445025"/>
            <a:ext cx="9321775" cy="4609225"/>
            <a:chOff x="0" y="445025"/>
            <a:chExt cx="9321775" cy="4609225"/>
          </a:xfrm>
        </p:grpSpPr>
        <p:cxnSp>
          <p:nvCxnSpPr>
            <p:cNvPr id="19" name="Google Shape;19;p4"/>
            <p:cNvCxnSpPr/>
            <p:nvPr/>
          </p:nvCxnSpPr>
          <p:spPr>
            <a:xfrm rot="10800000">
              <a:off x="0" y="445025"/>
              <a:ext cx="3871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4"/>
            <p:cNvSpPr/>
            <p:nvPr/>
          </p:nvSpPr>
          <p:spPr>
            <a:xfrm flipH="1">
              <a:off x="8430775" y="4698750"/>
              <a:ext cx="891000" cy="355500"/>
            </a:xfrm>
            <a:prstGeom prst="snip1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3927874" y="2179111"/>
            <a:ext cx="25056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720000" y="2179111"/>
            <a:ext cx="25056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720000" y="1781616"/>
            <a:ext cx="2505600" cy="47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3927875" y="1781616"/>
            <a:ext cx="2505600" cy="47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29" name="Google Shape;29;p5"/>
          <p:cNvCxnSpPr/>
          <p:nvPr/>
        </p:nvCxnSpPr>
        <p:spPr>
          <a:xfrm>
            <a:off x="0" y="4698600"/>
            <a:ext cx="387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6"/>
          <p:cNvGrpSpPr/>
          <p:nvPr/>
        </p:nvGrpSpPr>
        <p:grpSpPr>
          <a:xfrm>
            <a:off x="-177775" y="445025"/>
            <a:ext cx="8601775" cy="4609225"/>
            <a:chOff x="-177775" y="445025"/>
            <a:chExt cx="8601775" cy="4609225"/>
          </a:xfrm>
        </p:grpSpPr>
        <p:cxnSp>
          <p:nvCxnSpPr>
            <p:cNvPr id="32" name="Google Shape;32;p6"/>
            <p:cNvCxnSpPr/>
            <p:nvPr/>
          </p:nvCxnSpPr>
          <p:spPr>
            <a:xfrm>
              <a:off x="7375200" y="445025"/>
              <a:ext cx="104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" name="Google Shape;33;p6"/>
            <p:cNvSpPr/>
            <p:nvPr/>
          </p:nvSpPr>
          <p:spPr>
            <a:xfrm>
              <a:off x="-177775" y="4698750"/>
              <a:ext cx="891000" cy="355500"/>
            </a:xfrm>
            <a:prstGeom prst="snip1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4135975" y="121665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ubTitle" idx="1"/>
          </p:nvPr>
        </p:nvSpPr>
        <p:spPr>
          <a:xfrm>
            <a:off x="4135975" y="1789350"/>
            <a:ext cx="4294800" cy="21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>
            <a:spLocks noGrp="1"/>
          </p:cNvSpPr>
          <p:nvPr>
            <p:ph type="pic" idx="2"/>
          </p:nvPr>
        </p:nvSpPr>
        <p:spPr>
          <a:xfrm>
            <a:off x="142000" y="539500"/>
            <a:ext cx="3243000" cy="4604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9" name="Google Shape;39;p7"/>
          <p:cNvCxnSpPr/>
          <p:nvPr/>
        </p:nvCxnSpPr>
        <p:spPr>
          <a:xfrm>
            <a:off x="5272500" y="4698600"/>
            <a:ext cx="387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8"/>
          <p:cNvGrpSpPr/>
          <p:nvPr/>
        </p:nvGrpSpPr>
        <p:grpSpPr>
          <a:xfrm>
            <a:off x="0" y="445025"/>
            <a:ext cx="9633050" cy="4528424"/>
            <a:chOff x="0" y="445025"/>
            <a:chExt cx="9633050" cy="4528424"/>
          </a:xfrm>
        </p:grpSpPr>
        <p:cxnSp>
          <p:nvCxnSpPr>
            <p:cNvPr id="42" name="Google Shape;42;p8"/>
            <p:cNvCxnSpPr/>
            <p:nvPr/>
          </p:nvCxnSpPr>
          <p:spPr>
            <a:xfrm rot="10800000">
              <a:off x="0" y="445025"/>
              <a:ext cx="3871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" name="Google Shape;43;p8"/>
            <p:cNvSpPr/>
            <p:nvPr/>
          </p:nvSpPr>
          <p:spPr>
            <a:xfrm flipH="1">
              <a:off x="7101350" y="4234549"/>
              <a:ext cx="2531700" cy="738900"/>
            </a:xfrm>
            <a:prstGeom prst="snip1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8" name="Google Shape;48;p9"/>
          <p:cNvGrpSpPr/>
          <p:nvPr/>
        </p:nvGrpSpPr>
        <p:grpSpPr>
          <a:xfrm>
            <a:off x="-171000" y="445025"/>
            <a:ext cx="8601775" cy="4609225"/>
            <a:chOff x="-177775" y="445025"/>
            <a:chExt cx="8601775" cy="4609225"/>
          </a:xfrm>
        </p:grpSpPr>
        <p:cxnSp>
          <p:nvCxnSpPr>
            <p:cNvPr id="49" name="Google Shape;49;p9"/>
            <p:cNvCxnSpPr/>
            <p:nvPr/>
          </p:nvCxnSpPr>
          <p:spPr>
            <a:xfrm>
              <a:off x="7375200" y="445025"/>
              <a:ext cx="104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" name="Google Shape;50;p9"/>
            <p:cNvSpPr/>
            <p:nvPr/>
          </p:nvSpPr>
          <p:spPr>
            <a:xfrm>
              <a:off x="-177775" y="4698750"/>
              <a:ext cx="891000" cy="355500"/>
            </a:xfrm>
            <a:prstGeom prst="snip1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758525"/>
            <a:ext cx="6576000" cy="112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subTitle" idx="1"/>
          </p:nvPr>
        </p:nvSpPr>
        <p:spPr>
          <a:xfrm>
            <a:off x="1284000" y="28878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57" name="Google Shape;57;p11"/>
          <p:cNvGrpSpPr/>
          <p:nvPr/>
        </p:nvGrpSpPr>
        <p:grpSpPr>
          <a:xfrm flipH="1">
            <a:off x="-489050" y="445025"/>
            <a:ext cx="9633050" cy="4528424"/>
            <a:chOff x="0" y="445025"/>
            <a:chExt cx="9633050" cy="4528424"/>
          </a:xfrm>
        </p:grpSpPr>
        <p:cxnSp>
          <p:nvCxnSpPr>
            <p:cNvPr id="58" name="Google Shape;58;p11"/>
            <p:cNvCxnSpPr/>
            <p:nvPr/>
          </p:nvCxnSpPr>
          <p:spPr>
            <a:xfrm rot="10800000">
              <a:off x="0" y="445025"/>
              <a:ext cx="3871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" name="Google Shape;59;p11"/>
            <p:cNvSpPr/>
            <p:nvPr/>
          </p:nvSpPr>
          <p:spPr>
            <a:xfrm flipH="1">
              <a:off x="7101350" y="4234549"/>
              <a:ext cx="2531700" cy="738900"/>
            </a:xfrm>
            <a:prstGeom prst="snip1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96350"/>
            <a:ext cx="1137000" cy="79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3082229"/>
            <a:ext cx="1137000" cy="79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4" hasCustomPrompt="1"/>
          </p:nvPr>
        </p:nvSpPr>
        <p:spPr>
          <a:xfrm>
            <a:off x="3369475" y="1496350"/>
            <a:ext cx="1137000" cy="79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5" hasCustomPrompt="1"/>
          </p:nvPr>
        </p:nvSpPr>
        <p:spPr>
          <a:xfrm>
            <a:off x="3369475" y="3082229"/>
            <a:ext cx="1137000" cy="79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6" hasCustomPrompt="1"/>
          </p:nvPr>
        </p:nvSpPr>
        <p:spPr>
          <a:xfrm>
            <a:off x="6018950" y="1496350"/>
            <a:ext cx="1137000" cy="79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7" hasCustomPrompt="1"/>
          </p:nvPr>
        </p:nvSpPr>
        <p:spPr>
          <a:xfrm>
            <a:off x="6018950" y="3082229"/>
            <a:ext cx="1137000" cy="79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"/>
          </p:nvPr>
        </p:nvSpPr>
        <p:spPr>
          <a:xfrm>
            <a:off x="720000" y="2286550"/>
            <a:ext cx="24051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8"/>
          </p:nvPr>
        </p:nvSpPr>
        <p:spPr>
          <a:xfrm>
            <a:off x="3369475" y="2286550"/>
            <a:ext cx="24051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9"/>
          </p:nvPr>
        </p:nvSpPr>
        <p:spPr>
          <a:xfrm>
            <a:off x="6018950" y="2286550"/>
            <a:ext cx="24051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3"/>
          </p:nvPr>
        </p:nvSpPr>
        <p:spPr>
          <a:xfrm>
            <a:off x="720000" y="3872425"/>
            <a:ext cx="24051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4"/>
          </p:nvPr>
        </p:nvSpPr>
        <p:spPr>
          <a:xfrm>
            <a:off x="3369475" y="3872425"/>
            <a:ext cx="24051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5"/>
          </p:nvPr>
        </p:nvSpPr>
        <p:spPr>
          <a:xfrm>
            <a:off x="6018950" y="3872425"/>
            <a:ext cx="24051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75" name="Google Shape;75;p13"/>
          <p:cNvCxnSpPr/>
          <p:nvPr/>
        </p:nvCxnSpPr>
        <p:spPr>
          <a:xfrm>
            <a:off x="4572000" y="445025"/>
            <a:ext cx="387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subTitle" idx="1"/>
          </p:nvPr>
        </p:nvSpPr>
        <p:spPr>
          <a:xfrm>
            <a:off x="713225" y="2172925"/>
            <a:ext cx="2305500" cy="16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ubTitle" idx="2"/>
          </p:nvPr>
        </p:nvSpPr>
        <p:spPr>
          <a:xfrm>
            <a:off x="3412428" y="2172925"/>
            <a:ext cx="2305500" cy="16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3"/>
          </p:nvPr>
        </p:nvSpPr>
        <p:spPr>
          <a:xfrm>
            <a:off x="6111638" y="2172925"/>
            <a:ext cx="2305500" cy="16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4"/>
          </p:nvPr>
        </p:nvSpPr>
        <p:spPr>
          <a:xfrm>
            <a:off x="713225" y="1746750"/>
            <a:ext cx="2305500" cy="50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5"/>
          </p:nvPr>
        </p:nvSpPr>
        <p:spPr>
          <a:xfrm>
            <a:off x="3412426" y="1746750"/>
            <a:ext cx="2305500" cy="50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ubTitle" idx="6"/>
          </p:nvPr>
        </p:nvSpPr>
        <p:spPr>
          <a:xfrm>
            <a:off x="6111634" y="1746750"/>
            <a:ext cx="2305500" cy="50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84" name="Google Shape;84;p14"/>
          <p:cNvGrpSpPr/>
          <p:nvPr/>
        </p:nvGrpSpPr>
        <p:grpSpPr>
          <a:xfrm flipH="1">
            <a:off x="0" y="445025"/>
            <a:ext cx="8443500" cy="4253575"/>
            <a:chOff x="0" y="445025"/>
            <a:chExt cx="8443500" cy="4253575"/>
          </a:xfrm>
        </p:grpSpPr>
        <p:cxnSp>
          <p:nvCxnSpPr>
            <p:cNvPr id="85" name="Google Shape;85;p14"/>
            <p:cNvCxnSpPr/>
            <p:nvPr/>
          </p:nvCxnSpPr>
          <p:spPr>
            <a:xfrm>
              <a:off x="4572000" y="4698600"/>
              <a:ext cx="3871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" name="Google Shape;86;p14"/>
            <p:cNvCxnSpPr/>
            <p:nvPr/>
          </p:nvCxnSpPr>
          <p:spPr>
            <a:xfrm rot="10800000">
              <a:off x="0" y="445025"/>
              <a:ext cx="104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subTitle" idx="1"/>
          </p:nvPr>
        </p:nvSpPr>
        <p:spPr>
          <a:xfrm>
            <a:off x="720000" y="1825100"/>
            <a:ext cx="34149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2"/>
          </p:nvPr>
        </p:nvSpPr>
        <p:spPr>
          <a:xfrm>
            <a:off x="5015874" y="1825100"/>
            <a:ext cx="34149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subTitle" idx="3"/>
          </p:nvPr>
        </p:nvSpPr>
        <p:spPr>
          <a:xfrm>
            <a:off x="720000" y="3378250"/>
            <a:ext cx="34149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4"/>
          </p:nvPr>
        </p:nvSpPr>
        <p:spPr>
          <a:xfrm>
            <a:off x="5015874" y="3378250"/>
            <a:ext cx="34149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5"/>
          </p:nvPr>
        </p:nvSpPr>
        <p:spPr>
          <a:xfrm>
            <a:off x="720001" y="1416125"/>
            <a:ext cx="3414900" cy="4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6"/>
          </p:nvPr>
        </p:nvSpPr>
        <p:spPr>
          <a:xfrm>
            <a:off x="720001" y="2969175"/>
            <a:ext cx="3414900" cy="4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ubTitle" idx="7"/>
          </p:nvPr>
        </p:nvSpPr>
        <p:spPr>
          <a:xfrm>
            <a:off x="5015842" y="1416125"/>
            <a:ext cx="3414900" cy="4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8"/>
          </p:nvPr>
        </p:nvSpPr>
        <p:spPr>
          <a:xfrm>
            <a:off x="5015842" y="2969175"/>
            <a:ext cx="3414900" cy="4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97" name="Google Shape;97;p15"/>
          <p:cNvGrpSpPr/>
          <p:nvPr/>
        </p:nvGrpSpPr>
        <p:grpSpPr>
          <a:xfrm rot="10800000">
            <a:off x="0" y="445025"/>
            <a:ext cx="8443500" cy="4253575"/>
            <a:chOff x="0" y="445025"/>
            <a:chExt cx="8443500" cy="4253575"/>
          </a:xfrm>
        </p:grpSpPr>
        <p:cxnSp>
          <p:nvCxnSpPr>
            <p:cNvPr id="98" name="Google Shape;98;p15"/>
            <p:cNvCxnSpPr/>
            <p:nvPr/>
          </p:nvCxnSpPr>
          <p:spPr>
            <a:xfrm>
              <a:off x="4572000" y="4698600"/>
              <a:ext cx="3871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" name="Google Shape;99;p15"/>
            <p:cNvCxnSpPr/>
            <p:nvPr/>
          </p:nvCxnSpPr>
          <p:spPr>
            <a:xfrm rot="10800000">
              <a:off x="0" y="445025"/>
              <a:ext cx="104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subTitle" idx="1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2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3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ubTitle" idx="4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subTitle" idx="5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6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subTitle" idx="7"/>
          </p:nvPr>
        </p:nvSpPr>
        <p:spPr>
          <a:xfrm>
            <a:off x="731700" y="1136475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subTitle" idx="8"/>
          </p:nvPr>
        </p:nvSpPr>
        <p:spPr>
          <a:xfrm>
            <a:off x="3582994" y="11364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subTitle" idx="9"/>
          </p:nvPr>
        </p:nvSpPr>
        <p:spPr>
          <a:xfrm>
            <a:off x="6434288" y="11364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subTitle" idx="13"/>
          </p:nvPr>
        </p:nvSpPr>
        <p:spPr>
          <a:xfrm>
            <a:off x="723900" y="2922000"/>
            <a:ext cx="19860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subTitle" idx="14"/>
          </p:nvPr>
        </p:nvSpPr>
        <p:spPr>
          <a:xfrm>
            <a:off x="3582995" y="29220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subTitle" idx="15"/>
          </p:nvPr>
        </p:nvSpPr>
        <p:spPr>
          <a:xfrm>
            <a:off x="6434290" y="29220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14" name="Google Shape;114;p16"/>
          <p:cNvGrpSpPr/>
          <p:nvPr/>
        </p:nvGrpSpPr>
        <p:grpSpPr>
          <a:xfrm rot="10800000" flipH="1">
            <a:off x="713225" y="445025"/>
            <a:ext cx="8443500" cy="4253575"/>
            <a:chOff x="0" y="445025"/>
            <a:chExt cx="8443500" cy="4253575"/>
          </a:xfrm>
        </p:grpSpPr>
        <p:cxnSp>
          <p:nvCxnSpPr>
            <p:cNvPr id="115" name="Google Shape;115;p16"/>
            <p:cNvCxnSpPr/>
            <p:nvPr/>
          </p:nvCxnSpPr>
          <p:spPr>
            <a:xfrm>
              <a:off x="4572000" y="4698600"/>
              <a:ext cx="3871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p16"/>
            <p:cNvCxnSpPr/>
            <p:nvPr/>
          </p:nvCxnSpPr>
          <p:spPr>
            <a:xfrm rot="10800000">
              <a:off x="0" y="445025"/>
              <a:ext cx="104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>
            <a:spLocks noGrp="1"/>
          </p:cNvSpPr>
          <p:nvPr>
            <p:ph type="title" hasCustomPrompt="1"/>
          </p:nvPr>
        </p:nvSpPr>
        <p:spPr>
          <a:xfrm>
            <a:off x="713213" y="274052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17"/>
          <p:cNvSpPr txBox="1">
            <a:spLocks noGrp="1"/>
          </p:cNvSpPr>
          <p:nvPr>
            <p:ph type="subTitle" idx="1"/>
          </p:nvPr>
        </p:nvSpPr>
        <p:spPr>
          <a:xfrm>
            <a:off x="713213" y="351516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029535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3"/>
          </p:nvPr>
        </p:nvSpPr>
        <p:spPr>
          <a:xfrm>
            <a:off x="713225" y="1804473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title" idx="4" hasCustomPrompt="1"/>
          </p:nvPr>
        </p:nvSpPr>
        <p:spPr>
          <a:xfrm>
            <a:off x="4853013" y="274052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17"/>
          <p:cNvSpPr txBox="1">
            <a:spLocks noGrp="1"/>
          </p:cNvSpPr>
          <p:nvPr>
            <p:ph type="subTitle" idx="5"/>
          </p:nvPr>
        </p:nvSpPr>
        <p:spPr>
          <a:xfrm>
            <a:off x="4853013" y="351516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cxnSp>
        <p:nvCxnSpPr>
          <p:cNvPr id="124" name="Google Shape;124;p17"/>
          <p:cNvCxnSpPr/>
          <p:nvPr/>
        </p:nvCxnSpPr>
        <p:spPr>
          <a:xfrm rot="10800000">
            <a:off x="0" y="4698600"/>
            <a:ext cx="387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3484975" y="3752225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CREDITS: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endParaRPr sz="1200" b="1" u="sng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3982675" y="539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subTitle" idx="1"/>
          </p:nvPr>
        </p:nvSpPr>
        <p:spPr>
          <a:xfrm>
            <a:off x="3982675" y="16170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cxnSp>
        <p:nvCxnSpPr>
          <p:cNvPr id="137" name="Google Shape;137;p20"/>
          <p:cNvCxnSpPr/>
          <p:nvPr/>
        </p:nvCxnSpPr>
        <p:spPr>
          <a:xfrm>
            <a:off x="7375200" y="445025"/>
            <a:ext cx="1048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21"/>
          <p:cNvGrpSpPr/>
          <p:nvPr/>
        </p:nvGrpSpPr>
        <p:grpSpPr>
          <a:xfrm>
            <a:off x="-177775" y="445025"/>
            <a:ext cx="8601775" cy="4609225"/>
            <a:chOff x="-177775" y="445025"/>
            <a:chExt cx="8601775" cy="4609225"/>
          </a:xfrm>
        </p:grpSpPr>
        <p:cxnSp>
          <p:nvCxnSpPr>
            <p:cNvPr id="140" name="Google Shape;140;p21"/>
            <p:cNvCxnSpPr/>
            <p:nvPr/>
          </p:nvCxnSpPr>
          <p:spPr>
            <a:xfrm>
              <a:off x="7375200" y="445025"/>
              <a:ext cx="104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1" name="Google Shape;141;p21"/>
            <p:cNvSpPr/>
            <p:nvPr/>
          </p:nvSpPr>
          <p:spPr>
            <a:xfrm>
              <a:off x="-177775" y="4698750"/>
              <a:ext cx="891000" cy="355500"/>
            </a:xfrm>
            <a:prstGeom prst="snip1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2"/>
          <p:cNvGrpSpPr/>
          <p:nvPr/>
        </p:nvGrpSpPr>
        <p:grpSpPr>
          <a:xfrm flipH="1">
            <a:off x="-489050" y="445025"/>
            <a:ext cx="9633050" cy="4528424"/>
            <a:chOff x="0" y="445025"/>
            <a:chExt cx="9633050" cy="4528424"/>
          </a:xfrm>
        </p:grpSpPr>
        <p:cxnSp>
          <p:nvCxnSpPr>
            <p:cNvPr id="144" name="Google Shape;144;p22"/>
            <p:cNvCxnSpPr/>
            <p:nvPr/>
          </p:nvCxnSpPr>
          <p:spPr>
            <a:xfrm rot="10800000">
              <a:off x="0" y="445025"/>
              <a:ext cx="3871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5" name="Google Shape;145;p22"/>
            <p:cNvSpPr/>
            <p:nvPr/>
          </p:nvSpPr>
          <p:spPr>
            <a:xfrm flipH="1">
              <a:off x="7101350" y="4234549"/>
              <a:ext cx="2531700" cy="738900"/>
            </a:xfrm>
            <a:prstGeom prst="snip1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○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■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○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■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○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■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6" r:id="rId17"/>
    <p:sldLayoutId id="2147483667" r:id="rId18"/>
    <p:sldLayoutId id="2147483668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ickstarter.com/help/stats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19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emf"/><Relationship Id="rId5" Type="http://schemas.openxmlformats.org/officeDocument/2006/relationships/package" Target="../embeddings/Microsoft_Excel_Worksheet3.xlsx"/><Relationship Id="rId4" Type="http://schemas.openxmlformats.org/officeDocument/2006/relationships/image" Target="../media/image2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emf"/><Relationship Id="rId5" Type="http://schemas.openxmlformats.org/officeDocument/2006/relationships/package" Target="../embeddings/Microsoft_Excel_Worksheet5.xlsx"/><Relationship Id="rId4" Type="http://schemas.openxmlformats.org/officeDocument/2006/relationships/image" Target="../media/image23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ickstarter.com/help/stats" TargetMode="External"/><Relationship Id="rId7" Type="http://schemas.openxmlformats.org/officeDocument/2006/relationships/hyperlink" Target="https://webrobots.io/kickstarter-datasets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kickstarter.com/projects/snapmaker/snapmaker-u1-color-3d-printer-5x-more-speed-5x-less-waste?ref=discovery_category_most_funded&amp;total_hits=56264&amp;category_id=331" TargetMode="External"/><Relationship Id="rId5" Type="http://schemas.openxmlformats.org/officeDocument/2006/relationships/hyperlink" Target="https://www.kickstarter.com/projects/elanlee/exploding-kittens?ref=discovery_most_funded&amp;total_hits=658937&amp;category_id=34" TargetMode="External"/><Relationship Id="rId4" Type="http://schemas.openxmlformats.org/officeDocument/2006/relationships/hyperlink" Target="https://www.kickstarter.com/projects/frosthaven/frosthaven/description?context=comment_from_emai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>
            <a:spLocks noGrp="1"/>
          </p:cNvSpPr>
          <p:nvPr>
            <p:ph type="ctrTitle"/>
          </p:nvPr>
        </p:nvSpPr>
        <p:spPr>
          <a:xfrm>
            <a:off x="2170650" y="2315300"/>
            <a:ext cx="6260100" cy="173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800" dirty="0">
                <a:latin typeface="Karla"/>
              </a:rPr>
              <a:t>General vs Category-Specific:  Kickstarter Campaign Success Prediction</a:t>
            </a:r>
            <a:endParaRPr lang="en" sz="2800">
              <a:latin typeface="Karla"/>
            </a:endParaRPr>
          </a:p>
        </p:txBody>
      </p:sp>
      <p:sp>
        <p:nvSpPr>
          <p:cNvPr id="157" name="Google Shape;157;p26"/>
          <p:cNvSpPr txBox="1">
            <a:spLocks noGrp="1"/>
          </p:cNvSpPr>
          <p:nvPr>
            <p:ph type="subTitle" idx="1"/>
          </p:nvPr>
        </p:nvSpPr>
        <p:spPr>
          <a:xfrm>
            <a:off x="2170650" y="40520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/>
              <a:t>CMSE802 | Alex Chen</a:t>
            </a:r>
          </a:p>
        </p:txBody>
      </p:sp>
      <p:sp>
        <p:nvSpPr>
          <p:cNvPr id="158" name="Google Shape;158;p26"/>
          <p:cNvSpPr/>
          <p:nvPr/>
        </p:nvSpPr>
        <p:spPr>
          <a:xfrm>
            <a:off x="0" y="2631875"/>
            <a:ext cx="1874400" cy="17115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</a:rPr>
              <a:t>Table of contents</a:t>
            </a:r>
            <a:endParaRPr>
              <a:latin typeface="Karla"/>
            </a:endParaRPr>
          </a:p>
        </p:txBody>
      </p:sp>
      <p:sp>
        <p:nvSpPr>
          <p:cNvPr id="173" name="Google Shape;173;p28"/>
          <p:cNvSpPr txBox="1">
            <a:spLocks noGrp="1"/>
          </p:cNvSpPr>
          <p:nvPr>
            <p:ph type="title" idx="2"/>
          </p:nvPr>
        </p:nvSpPr>
        <p:spPr>
          <a:xfrm>
            <a:off x="720000" y="1496350"/>
            <a:ext cx="1137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</a:rPr>
              <a:t>01</a:t>
            </a:r>
            <a:endParaRPr>
              <a:latin typeface="Karla"/>
            </a:endParaRPr>
          </a:p>
        </p:txBody>
      </p:sp>
      <p:sp>
        <p:nvSpPr>
          <p:cNvPr id="174" name="Google Shape;174;p28"/>
          <p:cNvSpPr txBox="1">
            <a:spLocks noGrp="1"/>
          </p:cNvSpPr>
          <p:nvPr>
            <p:ph type="title" idx="3"/>
          </p:nvPr>
        </p:nvSpPr>
        <p:spPr>
          <a:xfrm>
            <a:off x="720000" y="3082229"/>
            <a:ext cx="1137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</a:rPr>
              <a:t>04</a:t>
            </a:r>
            <a:endParaRPr>
              <a:latin typeface="Karla"/>
            </a:endParaRPr>
          </a:p>
        </p:txBody>
      </p:sp>
      <p:sp>
        <p:nvSpPr>
          <p:cNvPr id="175" name="Google Shape;175;p28"/>
          <p:cNvSpPr txBox="1">
            <a:spLocks noGrp="1"/>
          </p:cNvSpPr>
          <p:nvPr>
            <p:ph type="title" idx="4"/>
          </p:nvPr>
        </p:nvSpPr>
        <p:spPr>
          <a:xfrm>
            <a:off x="3369475" y="1496350"/>
            <a:ext cx="1137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</a:rPr>
              <a:t>02</a:t>
            </a:r>
            <a:endParaRPr>
              <a:latin typeface="Karla"/>
            </a:endParaRPr>
          </a:p>
        </p:txBody>
      </p:sp>
      <p:sp>
        <p:nvSpPr>
          <p:cNvPr id="176" name="Google Shape;176;p28"/>
          <p:cNvSpPr txBox="1">
            <a:spLocks noGrp="1"/>
          </p:cNvSpPr>
          <p:nvPr>
            <p:ph type="title" idx="5"/>
          </p:nvPr>
        </p:nvSpPr>
        <p:spPr>
          <a:xfrm>
            <a:off x="3369475" y="3082229"/>
            <a:ext cx="1137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</a:rPr>
              <a:t>05</a:t>
            </a:r>
            <a:endParaRPr>
              <a:latin typeface="Karla"/>
            </a:endParaRPr>
          </a:p>
        </p:txBody>
      </p:sp>
      <p:sp>
        <p:nvSpPr>
          <p:cNvPr id="177" name="Google Shape;177;p28"/>
          <p:cNvSpPr txBox="1">
            <a:spLocks noGrp="1"/>
          </p:cNvSpPr>
          <p:nvPr>
            <p:ph type="title" idx="6"/>
          </p:nvPr>
        </p:nvSpPr>
        <p:spPr>
          <a:xfrm>
            <a:off x="6018950" y="1496350"/>
            <a:ext cx="1137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</a:rPr>
              <a:t>03</a:t>
            </a:r>
            <a:endParaRPr>
              <a:latin typeface="Karla"/>
            </a:endParaRPr>
          </a:p>
        </p:txBody>
      </p:sp>
      <p:sp>
        <p:nvSpPr>
          <p:cNvPr id="178" name="Google Shape;178;p28"/>
          <p:cNvSpPr txBox="1">
            <a:spLocks noGrp="1"/>
          </p:cNvSpPr>
          <p:nvPr>
            <p:ph type="title" idx="7"/>
          </p:nvPr>
        </p:nvSpPr>
        <p:spPr>
          <a:xfrm>
            <a:off x="6018950" y="3082229"/>
            <a:ext cx="11370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</a:rPr>
              <a:t>06</a:t>
            </a:r>
            <a:endParaRPr>
              <a:latin typeface="Karla"/>
            </a:endParaRPr>
          </a:p>
        </p:txBody>
      </p:sp>
      <p:sp>
        <p:nvSpPr>
          <p:cNvPr id="179" name="Google Shape;179;p28"/>
          <p:cNvSpPr txBox="1">
            <a:spLocks noGrp="1"/>
          </p:cNvSpPr>
          <p:nvPr>
            <p:ph type="subTitle" idx="1"/>
          </p:nvPr>
        </p:nvSpPr>
        <p:spPr>
          <a:xfrm>
            <a:off x="720000" y="2286550"/>
            <a:ext cx="24051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Background</a:t>
            </a:r>
            <a:endParaRPr lang="en-US" dirty="0"/>
          </a:p>
        </p:txBody>
      </p:sp>
      <p:sp>
        <p:nvSpPr>
          <p:cNvPr id="180" name="Google Shape;180;p28"/>
          <p:cNvSpPr txBox="1">
            <a:spLocks noGrp="1"/>
          </p:cNvSpPr>
          <p:nvPr>
            <p:ph type="subTitle" idx="8"/>
          </p:nvPr>
        </p:nvSpPr>
        <p:spPr>
          <a:xfrm>
            <a:off x="3369475" y="2286550"/>
            <a:ext cx="24051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Dataset</a:t>
            </a:r>
            <a:endParaRPr dirty="0">
              <a:latin typeface="Karla"/>
            </a:endParaRPr>
          </a:p>
        </p:txBody>
      </p:sp>
      <p:sp>
        <p:nvSpPr>
          <p:cNvPr id="181" name="Google Shape;181;p28"/>
          <p:cNvSpPr txBox="1">
            <a:spLocks noGrp="1"/>
          </p:cNvSpPr>
          <p:nvPr>
            <p:ph type="subTitle" idx="9"/>
          </p:nvPr>
        </p:nvSpPr>
        <p:spPr>
          <a:xfrm>
            <a:off x="6018950" y="2286550"/>
            <a:ext cx="24051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Preprocessing</a:t>
            </a:r>
          </a:p>
        </p:txBody>
      </p:sp>
      <p:sp>
        <p:nvSpPr>
          <p:cNvPr id="182" name="Google Shape;182;p28"/>
          <p:cNvSpPr txBox="1">
            <a:spLocks noGrp="1"/>
          </p:cNvSpPr>
          <p:nvPr>
            <p:ph type="subTitle" idx="13"/>
          </p:nvPr>
        </p:nvSpPr>
        <p:spPr>
          <a:xfrm>
            <a:off x="720000" y="3872425"/>
            <a:ext cx="24051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>
                <a:latin typeface="Karla"/>
              </a:rPr>
              <a:t>Exploratory Analysis</a:t>
            </a:r>
          </a:p>
        </p:txBody>
      </p:sp>
      <p:sp>
        <p:nvSpPr>
          <p:cNvPr id="183" name="Google Shape;183;p28"/>
          <p:cNvSpPr txBox="1">
            <a:spLocks noGrp="1"/>
          </p:cNvSpPr>
          <p:nvPr>
            <p:ph type="subTitle" idx="14"/>
          </p:nvPr>
        </p:nvSpPr>
        <p:spPr>
          <a:xfrm>
            <a:off x="3369475" y="3872425"/>
            <a:ext cx="24051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Modeling</a:t>
            </a:r>
            <a:endParaRPr lang="en-US" dirty="0"/>
          </a:p>
        </p:txBody>
      </p:sp>
      <p:sp>
        <p:nvSpPr>
          <p:cNvPr id="184" name="Google Shape;184;p28"/>
          <p:cNvSpPr txBox="1">
            <a:spLocks noGrp="1"/>
          </p:cNvSpPr>
          <p:nvPr>
            <p:ph type="subTitle" idx="15"/>
          </p:nvPr>
        </p:nvSpPr>
        <p:spPr>
          <a:xfrm>
            <a:off x="6018950" y="3872425"/>
            <a:ext cx="24051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>
                <a:latin typeface="Karla"/>
              </a:rPr>
              <a:t>Interpretations and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>
            <a:spLocks noGrp="1"/>
          </p:cNvSpPr>
          <p:nvPr>
            <p:ph type="title"/>
          </p:nvPr>
        </p:nvSpPr>
        <p:spPr>
          <a:xfrm flipH="1">
            <a:off x="713225" y="2727750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Background</a:t>
            </a:r>
            <a:endParaRPr lang="en-US" dirty="0"/>
          </a:p>
        </p:txBody>
      </p:sp>
      <p:sp>
        <p:nvSpPr>
          <p:cNvPr id="197" name="Google Shape;197;p30"/>
          <p:cNvSpPr txBox="1">
            <a:spLocks noGrp="1"/>
          </p:cNvSpPr>
          <p:nvPr>
            <p:ph type="title" idx="2"/>
          </p:nvPr>
        </p:nvSpPr>
        <p:spPr>
          <a:xfrm flipH="1">
            <a:off x="3205625" y="1584150"/>
            <a:ext cx="1891200" cy="12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198" name="Google Shape;198;p30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5116" b="5116"/>
          <a:stretch/>
        </p:blipFill>
        <p:spPr>
          <a:xfrm>
            <a:off x="6506200" y="1584150"/>
            <a:ext cx="2643299" cy="3559354"/>
          </a:xfrm>
          <a:prstGeom prst="rect">
            <a:avLst/>
          </a:prstGeom>
        </p:spPr>
      </p:pic>
      <p:sp>
        <p:nvSpPr>
          <p:cNvPr id="199" name="Google Shape;199;p30"/>
          <p:cNvSpPr/>
          <p:nvPr/>
        </p:nvSpPr>
        <p:spPr>
          <a:xfrm>
            <a:off x="0" y="1584150"/>
            <a:ext cx="2760600" cy="9258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Background</a:t>
            </a:r>
            <a:endParaRPr dirty="0">
              <a:latin typeface="Karla"/>
            </a:endParaRPr>
          </a:p>
        </p:txBody>
      </p:sp>
      <p:sp>
        <p:nvSpPr>
          <p:cNvPr id="207" name="Google Shape;207;p31"/>
          <p:cNvSpPr txBox="1">
            <a:spLocks noGrp="1"/>
          </p:cNvSpPr>
          <p:nvPr>
            <p:ph type="subTitle" idx="2"/>
          </p:nvPr>
        </p:nvSpPr>
        <p:spPr>
          <a:xfrm>
            <a:off x="715604" y="1770269"/>
            <a:ext cx="5310346" cy="23402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/>
              <a:buChar char="•"/>
            </a:pPr>
            <a:r>
              <a:rPr lang="en" dirty="0"/>
              <a:t>Founded in 2009, crowdfunding platform for all types of different creative projects.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" dirty="0"/>
              <a:t>As of April 2025, more than US$8.7 billion has been pledged by about 24 million backers to over 275,000 successfully funded projects </a:t>
            </a:r>
            <a:r>
              <a:rPr lang="en" dirty="0">
                <a:hlinkClick r:id="rId3"/>
              </a:rPr>
              <a:t>[1]</a:t>
            </a:r>
            <a:r>
              <a:rPr lang="en" dirty="0"/>
              <a:t>.</a:t>
            </a:r>
          </a:p>
          <a:p>
            <a:pPr>
              <a:buFont typeface="Arial"/>
              <a:buChar char="•"/>
            </a:pPr>
            <a:r>
              <a:rPr lang="en" dirty="0"/>
              <a:t>All-or-nothing funding: backers are only charged if the campaign reaches its funding goal</a:t>
            </a:r>
            <a:endParaRPr lang="en-US" dirty="0"/>
          </a:p>
          <a:p>
            <a:pPr>
              <a:buFont typeface="Arial"/>
              <a:buChar char="•"/>
            </a:pPr>
            <a:r>
              <a:rPr lang="en" dirty="0"/>
              <a:t>Campaigns are organized into broad categories (Games, Film &amp; Video, Technology, etc.) that differ in audience and typical norms / scale.</a:t>
            </a:r>
          </a:p>
          <a:p>
            <a:pPr marL="285750" lvl="0" indent="-2857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endParaRPr lang="en" dirty="0"/>
          </a:p>
        </p:txBody>
      </p:sp>
      <p:sp>
        <p:nvSpPr>
          <p:cNvPr id="208" name="Google Shape;208;p31"/>
          <p:cNvSpPr txBox="1">
            <a:spLocks noGrp="1"/>
          </p:cNvSpPr>
          <p:nvPr>
            <p:ph type="subTitle" idx="3"/>
          </p:nvPr>
        </p:nvSpPr>
        <p:spPr>
          <a:xfrm>
            <a:off x="706812" y="1372774"/>
            <a:ext cx="2505600" cy="47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dirty="0">
                <a:latin typeface="Karla"/>
              </a:rPr>
              <a:t>What is Kickstarter?</a:t>
            </a:r>
          </a:p>
        </p:txBody>
      </p:sp>
      <p:sp>
        <p:nvSpPr>
          <p:cNvPr id="209" name="Google Shape;209;p31"/>
          <p:cNvSpPr/>
          <p:nvPr/>
        </p:nvSpPr>
        <p:spPr>
          <a:xfrm flipH="1">
            <a:off x="7101350" y="1936238"/>
            <a:ext cx="2531700" cy="17556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6" name="Picture 5" descr="Final Frosthaven Cover Image">
            <a:extLst>
              <a:ext uri="{FF2B5EF4-FFF2-40B4-BE49-F238E27FC236}">
                <a16:creationId xmlns:a16="http://schemas.microsoft.com/office/drawing/2014/main" id="{4E4EA5B3-F656-5014-1003-A77C00310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038" y="364262"/>
            <a:ext cx="2026627" cy="14794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2352CF-0C17-50CD-F57E-192BF2374410}"/>
              </a:ext>
            </a:extLst>
          </p:cNvPr>
          <p:cNvSpPr txBox="1"/>
          <p:nvPr/>
        </p:nvSpPr>
        <p:spPr>
          <a:xfrm>
            <a:off x="7063267" y="239808"/>
            <a:ext cx="825636" cy="246221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Karla"/>
              </a:rPr>
              <a:t>$13 million</a:t>
            </a:r>
            <a:endParaRPr lang="en-US" sz="1000">
              <a:latin typeface="Karla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8C433F-0377-4D1F-ED9B-DF018E1BCA4A}"/>
              </a:ext>
            </a:extLst>
          </p:cNvPr>
          <p:cNvGrpSpPr/>
          <p:nvPr/>
        </p:nvGrpSpPr>
        <p:grpSpPr>
          <a:xfrm>
            <a:off x="6682228" y="1373203"/>
            <a:ext cx="2743200" cy="1667514"/>
            <a:chOff x="6398879" y="2232854"/>
            <a:chExt cx="2743200" cy="1667514"/>
          </a:xfrm>
        </p:grpSpPr>
        <p:pic>
          <p:nvPicPr>
            <p:cNvPr id="8" name="Picture 7" descr="Exploding Kittens for Nintendo Switch - Nintendo Official Site">
              <a:extLst>
                <a:ext uri="{FF2B5EF4-FFF2-40B4-BE49-F238E27FC236}">
                  <a16:creationId xmlns:a16="http://schemas.microsoft.com/office/drawing/2014/main" id="{7D16E084-D951-86B7-2A1E-673965404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8879" y="2357318"/>
              <a:ext cx="2743200" cy="15430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5EC01F-857D-5060-9EDF-C4EA43582BC5}"/>
                </a:ext>
              </a:extLst>
            </p:cNvPr>
            <p:cNvSpPr txBox="1"/>
            <p:nvPr/>
          </p:nvSpPr>
          <p:spPr>
            <a:xfrm>
              <a:off x="7308195" y="2232854"/>
              <a:ext cx="926488" cy="246221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 dirty="0">
                  <a:latin typeface="Karla"/>
                </a:rPr>
                <a:t>$8.8 million</a:t>
              </a:r>
            </a:p>
          </p:txBody>
        </p:sp>
      </p:grpSp>
      <p:pic>
        <p:nvPicPr>
          <p:cNvPr id="10" name="Picture 9" descr="4 Toolheads | 5s Toolhead Swap | Multi-Material | Low Waste | 500 mm/s Speed | Smart Calibration | Auto Filament System | App Control">
            <a:extLst>
              <a:ext uri="{FF2B5EF4-FFF2-40B4-BE49-F238E27FC236}">
                <a16:creationId xmlns:a16="http://schemas.microsoft.com/office/drawing/2014/main" id="{CFFA8021-B9F6-E040-FFB1-BFDAB6B32C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9211" y="2813557"/>
            <a:ext cx="2407024" cy="13557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975E53C-27A4-C856-A4FC-C8A9E8FC54D2}"/>
              </a:ext>
            </a:extLst>
          </p:cNvPr>
          <p:cNvSpPr txBox="1"/>
          <p:nvPr/>
        </p:nvSpPr>
        <p:spPr>
          <a:xfrm>
            <a:off x="6986426" y="2689093"/>
            <a:ext cx="974514" cy="246221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Karla"/>
              </a:rPr>
              <a:t>$20.6 million</a:t>
            </a:r>
          </a:p>
        </p:txBody>
      </p:sp>
      <p:pic>
        <p:nvPicPr>
          <p:cNvPr id="15" name="Picture 14" descr="ALERT: Kickstarters pledges to be matched through Thursday, Oct. 22 - B ...">
            <a:extLst>
              <a:ext uri="{FF2B5EF4-FFF2-40B4-BE49-F238E27FC236}">
                <a16:creationId xmlns:a16="http://schemas.microsoft.com/office/drawing/2014/main" id="{CF361F86-B9CF-C60E-B8C5-3929D3454E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4807" y="1204953"/>
            <a:ext cx="562856" cy="5676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latin typeface="Karla"/>
              </a:rPr>
              <a:t>Research Question</a:t>
            </a:r>
            <a:endParaRPr dirty="0">
              <a:latin typeface="Karla"/>
            </a:endParaRPr>
          </a:p>
        </p:txBody>
      </p:sp>
      <p:sp>
        <p:nvSpPr>
          <p:cNvPr id="215" name="Google Shape;215;p32"/>
          <p:cNvSpPr txBox="1">
            <a:spLocks noGrp="1"/>
          </p:cNvSpPr>
          <p:nvPr>
            <p:ph type="subTitle" idx="4"/>
          </p:nvPr>
        </p:nvSpPr>
        <p:spPr>
          <a:xfrm>
            <a:off x="713225" y="1746750"/>
            <a:ext cx="2305500" cy="50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Motivation</a:t>
            </a:r>
            <a:endParaRPr dirty="0">
              <a:latin typeface="Karla"/>
            </a:endParaRPr>
          </a:p>
        </p:txBody>
      </p:sp>
      <p:sp>
        <p:nvSpPr>
          <p:cNvPr id="217" name="Google Shape;217;p32"/>
          <p:cNvSpPr txBox="1">
            <a:spLocks noGrp="1"/>
          </p:cNvSpPr>
          <p:nvPr>
            <p:ph type="subTitle" idx="1"/>
          </p:nvPr>
        </p:nvSpPr>
        <p:spPr>
          <a:xfrm>
            <a:off x="713225" y="2172925"/>
            <a:ext cx="4791104" cy="16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Hosting a crowdfunding campaign is </a:t>
            </a:r>
            <a:r>
              <a:rPr lang="en-US" b="1" dirty="0"/>
              <a:t>hard</a:t>
            </a:r>
            <a:r>
              <a:rPr lang="en-US" dirty="0"/>
              <a:t>! Not everyone succeeds. There is no one-size-fits-all model.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Studying whether predictive relationships vary by category may allow for better focusing of strength and structure for implications in campaign design.</a:t>
            </a:r>
          </a:p>
        </p:txBody>
      </p:sp>
      <p:sp>
        <p:nvSpPr>
          <p:cNvPr id="219" name="Google Shape;219;p32"/>
          <p:cNvSpPr txBox="1">
            <a:spLocks noGrp="1"/>
          </p:cNvSpPr>
          <p:nvPr>
            <p:ph type="subTitle" idx="3"/>
          </p:nvPr>
        </p:nvSpPr>
        <p:spPr>
          <a:xfrm>
            <a:off x="5772150" y="2172925"/>
            <a:ext cx="2644988" cy="23632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Common approaches emphasize overall predictive accuracy.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Campaign category is often just included as a control variable, models are usually estimated on all campaigns together.</a:t>
            </a:r>
          </a:p>
        </p:txBody>
      </p:sp>
      <p:sp>
        <p:nvSpPr>
          <p:cNvPr id="220" name="Google Shape;220;p32"/>
          <p:cNvSpPr txBox="1">
            <a:spLocks noGrp="1"/>
          </p:cNvSpPr>
          <p:nvPr>
            <p:ph type="subTitle" idx="6"/>
          </p:nvPr>
        </p:nvSpPr>
        <p:spPr>
          <a:xfrm>
            <a:off x="5772150" y="1748227"/>
            <a:ext cx="2305500" cy="50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dirty="0">
                <a:latin typeface="Karla"/>
              </a:rPr>
              <a:t>Existing Work</a:t>
            </a:r>
          </a:p>
        </p:txBody>
      </p:sp>
      <p:sp>
        <p:nvSpPr>
          <p:cNvPr id="3" name="Google Shape;217;p32">
            <a:extLst>
              <a:ext uri="{FF2B5EF4-FFF2-40B4-BE49-F238E27FC236}">
                <a16:creationId xmlns:a16="http://schemas.microsoft.com/office/drawing/2014/main" id="{908F72A1-B7E3-343D-CE0C-40F029E9AFC7}"/>
              </a:ext>
            </a:extLst>
          </p:cNvPr>
          <p:cNvSpPr txBox="1">
            <a:spLocks/>
          </p:cNvSpPr>
          <p:nvPr/>
        </p:nvSpPr>
        <p:spPr>
          <a:xfrm>
            <a:off x="529448" y="1014237"/>
            <a:ext cx="8154970" cy="735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52400" indent="0"/>
            <a:r>
              <a:rPr lang="en-US" dirty="0"/>
              <a:t>⭐ Do different categories of Kickstarter campaigns have different predictive patterns for success?</a:t>
            </a:r>
          </a:p>
          <a:p>
            <a:pPr marL="152400" indent="0"/>
            <a:r>
              <a:rPr lang="en-US" dirty="0"/>
              <a:t>⭐ Are models trained within specific categories more predictive within their category than models that are  trained generally?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36DDA85A-04B4-ACB5-0B55-757D99CFF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>
            <a:extLst>
              <a:ext uri="{FF2B5EF4-FFF2-40B4-BE49-F238E27FC236}">
                <a16:creationId xmlns:a16="http://schemas.microsoft.com/office/drawing/2014/main" id="{36C3A3B3-9D0A-31F7-CE58-926CBEFEA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713225" y="2727750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Dataset</a:t>
            </a:r>
          </a:p>
        </p:txBody>
      </p:sp>
      <p:sp>
        <p:nvSpPr>
          <p:cNvPr id="197" name="Google Shape;197;p30">
            <a:extLst>
              <a:ext uri="{FF2B5EF4-FFF2-40B4-BE49-F238E27FC236}">
                <a16:creationId xmlns:a16="http://schemas.microsoft.com/office/drawing/2014/main" id="{0F65AA4D-96A1-F55C-0DC9-F0157F3B70E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 flipH="1">
            <a:off x="3205625" y="1584150"/>
            <a:ext cx="1891200" cy="12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02</a:t>
            </a:r>
            <a:endParaRPr dirty="0">
              <a:latin typeface="Karla"/>
            </a:endParaRPr>
          </a:p>
        </p:txBody>
      </p:sp>
      <p:pic>
        <p:nvPicPr>
          <p:cNvPr id="198" name="Google Shape;198;p30">
            <a:extLst>
              <a:ext uri="{FF2B5EF4-FFF2-40B4-BE49-F238E27FC236}">
                <a16:creationId xmlns:a16="http://schemas.microsoft.com/office/drawing/2014/main" id="{6CC64D5E-54D7-80B6-4084-54661136DE5B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5116" b="5116"/>
          <a:stretch/>
        </p:blipFill>
        <p:spPr>
          <a:xfrm>
            <a:off x="6506200" y="1584150"/>
            <a:ext cx="2643299" cy="3559354"/>
          </a:xfrm>
          <a:prstGeom prst="rect">
            <a:avLst/>
          </a:prstGeom>
        </p:spPr>
      </p:pic>
      <p:sp>
        <p:nvSpPr>
          <p:cNvPr id="199" name="Google Shape;199;p30">
            <a:extLst>
              <a:ext uri="{FF2B5EF4-FFF2-40B4-BE49-F238E27FC236}">
                <a16:creationId xmlns:a16="http://schemas.microsoft.com/office/drawing/2014/main" id="{F2EC176A-32AA-FC94-260D-BFF2C18E1371}"/>
              </a:ext>
            </a:extLst>
          </p:cNvPr>
          <p:cNvSpPr/>
          <p:nvPr/>
        </p:nvSpPr>
        <p:spPr>
          <a:xfrm>
            <a:off x="0" y="1584150"/>
            <a:ext cx="2760600" cy="9258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4141897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D0CBCAC5-16EB-E00F-1A5F-31BCC1CF3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>
            <a:extLst>
              <a:ext uri="{FF2B5EF4-FFF2-40B4-BE49-F238E27FC236}">
                <a16:creationId xmlns:a16="http://schemas.microsoft.com/office/drawing/2014/main" id="{C15F9A6A-975B-579F-C5CE-AAA6A5430E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Origin</a:t>
            </a:r>
            <a:endParaRPr dirty="0">
              <a:latin typeface="Karla"/>
            </a:endParaRPr>
          </a:p>
        </p:txBody>
      </p:sp>
      <p:sp>
        <p:nvSpPr>
          <p:cNvPr id="207" name="Google Shape;207;p31">
            <a:extLst>
              <a:ext uri="{FF2B5EF4-FFF2-40B4-BE49-F238E27FC236}">
                <a16:creationId xmlns:a16="http://schemas.microsoft.com/office/drawing/2014/main" id="{6F59CB71-6D61-2FD7-0FA4-017C7D4B396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5604" y="1770269"/>
            <a:ext cx="4820490" cy="23402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/>
              <a:buChar char="•"/>
            </a:pPr>
            <a:r>
              <a:rPr lang="en" dirty="0"/>
              <a:t>Monthly snapshots of Kickstarter automatically taken by "Webrobots.io", a </a:t>
            </a:r>
            <a:r>
              <a:rPr lang="en" dirty="0" err="1"/>
              <a:t>webscraping</a:t>
            </a:r>
            <a:r>
              <a:rPr lang="en" dirty="0"/>
              <a:t> service provider.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endParaRPr lang="en" dirty="0"/>
          </a:p>
          <a:p>
            <a:pPr>
              <a:buFont typeface="Arial"/>
              <a:buChar char="•"/>
            </a:pPr>
            <a:r>
              <a:rPr lang="en" dirty="0"/>
              <a:t>Each snapshot contains all available campaigns that are reachable through regular pagination.</a:t>
            </a:r>
          </a:p>
          <a:p>
            <a:pPr lvl="1" algn="l">
              <a:buFont typeface="Courier New"/>
              <a:buChar char="o"/>
            </a:pPr>
            <a:r>
              <a:rPr lang="en" dirty="0"/>
              <a:t>This includes campaigns dating back to the beginning, so long as they have not been ripped from the site</a:t>
            </a:r>
          </a:p>
          <a:p>
            <a:pPr lvl="1" algn="l">
              <a:buFont typeface="Courier New"/>
              <a:buChar char="o"/>
            </a:pPr>
            <a:endParaRPr lang="en" dirty="0"/>
          </a:p>
          <a:p>
            <a:pPr>
              <a:buFont typeface="Arial"/>
              <a:buChar char="•"/>
            </a:pPr>
            <a:r>
              <a:rPr lang="en" dirty="0"/>
              <a:t>We utilize a single snapshot, taken on Sept. 11th 2025</a:t>
            </a:r>
          </a:p>
        </p:txBody>
      </p:sp>
      <p:sp>
        <p:nvSpPr>
          <p:cNvPr id="208" name="Google Shape;208;p31">
            <a:extLst>
              <a:ext uri="{FF2B5EF4-FFF2-40B4-BE49-F238E27FC236}">
                <a16:creationId xmlns:a16="http://schemas.microsoft.com/office/drawing/2014/main" id="{F6F185D8-EC7C-3A57-D6E3-B135425491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11614" y="1372774"/>
            <a:ext cx="3706230" cy="47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dirty="0" err="1">
                <a:latin typeface="Karla"/>
              </a:rPr>
              <a:t>Webscraped</a:t>
            </a:r>
            <a:r>
              <a:rPr lang="en" dirty="0">
                <a:latin typeface="Karla"/>
              </a:rPr>
              <a:t> Repository</a:t>
            </a:r>
          </a:p>
        </p:txBody>
      </p:sp>
      <p:pic>
        <p:nvPicPr>
          <p:cNvPr id="2" name="Picture 1" descr="Web Scraping Service Logo">
            <a:extLst>
              <a:ext uri="{FF2B5EF4-FFF2-40B4-BE49-F238E27FC236}">
                <a16:creationId xmlns:a16="http://schemas.microsoft.com/office/drawing/2014/main" id="{CD3D8DAA-8B25-A2FD-3BCD-FCA44D65A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997" y="2196846"/>
            <a:ext cx="2743200" cy="74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877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>
          <a:extLst>
            <a:ext uri="{FF2B5EF4-FFF2-40B4-BE49-F238E27FC236}">
              <a16:creationId xmlns:a16="http://schemas.microsoft.com/office/drawing/2014/main" id="{796011A1-892D-0C9F-01C5-FD87B733E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2">
            <a:extLst>
              <a:ext uri="{FF2B5EF4-FFF2-40B4-BE49-F238E27FC236}">
                <a16:creationId xmlns:a16="http://schemas.microsoft.com/office/drawing/2014/main" id="{D44096C0-5651-67C1-AC37-F69E3686B8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47297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latin typeface="Karla"/>
              </a:rPr>
              <a:t>Shape and Target</a:t>
            </a:r>
            <a:endParaRPr lang="en-US" dirty="0">
              <a:latin typeface="Karla"/>
            </a:endParaRPr>
          </a:p>
        </p:txBody>
      </p:sp>
      <p:sp>
        <p:nvSpPr>
          <p:cNvPr id="409" name="Google Shape;409;p42">
            <a:extLst>
              <a:ext uri="{FF2B5EF4-FFF2-40B4-BE49-F238E27FC236}">
                <a16:creationId xmlns:a16="http://schemas.microsoft.com/office/drawing/2014/main" id="{5CC2403D-C4C1-D52B-01D8-9735794F2E2B}"/>
              </a:ext>
            </a:extLst>
          </p:cNvPr>
          <p:cNvSpPr txBox="1"/>
          <p:nvPr/>
        </p:nvSpPr>
        <p:spPr>
          <a:xfrm>
            <a:off x="4780483" y="1157138"/>
            <a:ext cx="4102772" cy="182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Karla"/>
                <a:ea typeface="Karla"/>
                <a:cs typeface="Karla"/>
              </a:rPr>
              <a:t>Monetary Info – goal, currency, exchange rates, ...</a:t>
            </a:r>
          </a:p>
          <a:p>
            <a:endParaRPr lang="en" sz="1200" dirty="0">
              <a:solidFill>
                <a:schemeClr val="dk1"/>
              </a:solidFill>
              <a:latin typeface="Karla"/>
              <a:ea typeface="Karla"/>
              <a:cs typeface="Karla"/>
            </a:endParaRPr>
          </a:p>
          <a:p>
            <a:r>
              <a:rPr lang="en" sz="1200" dirty="0">
                <a:solidFill>
                  <a:schemeClr val="dk1"/>
                </a:solidFill>
                <a:latin typeface="Karla"/>
                <a:ea typeface="Karla"/>
                <a:cs typeface="Karla"/>
              </a:rPr>
              <a:t>Timestamp Info – </a:t>
            </a:r>
            <a:r>
              <a:rPr lang="en" sz="1200" dirty="0" err="1">
                <a:solidFill>
                  <a:schemeClr val="dk1"/>
                </a:solidFill>
                <a:latin typeface="Karla"/>
                <a:ea typeface="Karla"/>
                <a:cs typeface="Karla"/>
              </a:rPr>
              <a:t>created_at</a:t>
            </a:r>
            <a:r>
              <a:rPr lang="en" sz="1200" dirty="0">
                <a:solidFill>
                  <a:schemeClr val="dk1"/>
                </a:solidFill>
                <a:latin typeface="Karla"/>
                <a:ea typeface="Karla"/>
                <a:cs typeface="Karla"/>
              </a:rPr>
              <a:t>, </a:t>
            </a:r>
            <a:r>
              <a:rPr lang="en" sz="1200" dirty="0" err="1">
                <a:solidFill>
                  <a:schemeClr val="dk1"/>
                </a:solidFill>
                <a:latin typeface="Karla"/>
                <a:ea typeface="Karla"/>
                <a:cs typeface="Karla"/>
              </a:rPr>
              <a:t>launched_at</a:t>
            </a:r>
            <a:r>
              <a:rPr lang="en" sz="1200" dirty="0">
                <a:solidFill>
                  <a:schemeClr val="dk1"/>
                </a:solidFill>
                <a:latin typeface="Karla"/>
                <a:ea typeface="Karla"/>
                <a:cs typeface="Karla"/>
              </a:rPr>
              <a:t>, deadline, ...</a:t>
            </a:r>
          </a:p>
          <a:p>
            <a:endParaRPr lang="en" sz="1200" dirty="0">
              <a:solidFill>
                <a:schemeClr val="dk1"/>
              </a:solidFill>
              <a:latin typeface="Karla"/>
              <a:ea typeface="Karla"/>
              <a:cs typeface="Karla"/>
            </a:endParaRPr>
          </a:p>
          <a:p>
            <a:r>
              <a:rPr lang="en" sz="1200" dirty="0">
                <a:solidFill>
                  <a:schemeClr val="dk1"/>
                </a:solidFill>
                <a:latin typeface="Karla"/>
                <a:ea typeface="Karla"/>
                <a:cs typeface="Karla"/>
              </a:rPr>
              <a:t>Geographic Info – country, location, state, ...</a:t>
            </a:r>
          </a:p>
          <a:p>
            <a:endParaRPr lang="en" sz="1200" dirty="0">
              <a:solidFill>
                <a:schemeClr val="dk1"/>
              </a:solidFill>
              <a:latin typeface="Karla"/>
              <a:ea typeface="Karla"/>
              <a:cs typeface="Karla"/>
            </a:endParaRPr>
          </a:p>
          <a:p>
            <a:r>
              <a:rPr lang="en" sz="1200" dirty="0">
                <a:solidFill>
                  <a:schemeClr val="dk1"/>
                </a:solidFill>
                <a:latin typeface="Karla"/>
                <a:ea typeface="Karla"/>
                <a:cs typeface="Karla"/>
              </a:rPr>
              <a:t>Project Profile Info – </a:t>
            </a:r>
            <a:r>
              <a:rPr lang="en" sz="1200" b="1" dirty="0">
                <a:solidFill>
                  <a:schemeClr val="dk1"/>
                </a:solidFill>
                <a:latin typeface="Karla"/>
                <a:ea typeface="Karla"/>
                <a:cs typeface="Karla"/>
              </a:rPr>
              <a:t>parent</a:t>
            </a:r>
            <a:r>
              <a:rPr lang="en" sz="1200" dirty="0">
                <a:solidFill>
                  <a:schemeClr val="dk1"/>
                </a:solidFill>
                <a:latin typeface="Karla"/>
                <a:ea typeface="Karla"/>
                <a:cs typeface="Karla"/>
              </a:rPr>
              <a:t> </a:t>
            </a:r>
            <a:r>
              <a:rPr lang="en" sz="1200" b="1" dirty="0">
                <a:solidFill>
                  <a:schemeClr val="dk1"/>
                </a:solidFill>
                <a:latin typeface="Karla"/>
                <a:ea typeface="Karla"/>
                <a:cs typeface="Karla"/>
              </a:rPr>
              <a:t>category</a:t>
            </a:r>
            <a:r>
              <a:rPr lang="en" sz="1200" dirty="0">
                <a:solidFill>
                  <a:schemeClr val="dk1"/>
                </a:solidFill>
                <a:latin typeface="Karla"/>
                <a:ea typeface="Karla"/>
                <a:cs typeface="Karla"/>
              </a:rPr>
              <a:t>, sub category, name, blurb, ...</a:t>
            </a:r>
          </a:p>
          <a:p>
            <a:endParaRPr lang="en" sz="1200" dirty="0">
              <a:solidFill>
                <a:schemeClr val="dk1"/>
              </a:solidFill>
              <a:latin typeface="Karla"/>
              <a:ea typeface="Karla"/>
              <a:cs typeface="Karla"/>
            </a:endParaRPr>
          </a:p>
          <a:p>
            <a:r>
              <a:rPr lang="en" sz="1100" dirty="0">
                <a:solidFill>
                  <a:srgbClr val="CCCCCC"/>
                </a:solidFill>
                <a:latin typeface="Consolas"/>
              </a:rPr>
              <a:t>⚠️ </a:t>
            </a:r>
            <a:r>
              <a:rPr lang="en" sz="1200" dirty="0">
                <a:solidFill>
                  <a:schemeClr val="dk1"/>
                </a:solidFill>
                <a:latin typeface="Karla"/>
                <a:ea typeface="Karla"/>
                <a:cs typeface="Karla"/>
              </a:rPr>
              <a:t>Lots of nested JSON object features</a:t>
            </a:r>
          </a:p>
        </p:txBody>
      </p:sp>
      <p:sp>
        <p:nvSpPr>
          <p:cNvPr id="412" name="Google Shape;412;p42">
            <a:extLst>
              <a:ext uri="{FF2B5EF4-FFF2-40B4-BE49-F238E27FC236}">
                <a16:creationId xmlns:a16="http://schemas.microsoft.com/office/drawing/2014/main" id="{1C14F237-F563-4EB7-A68C-B732E786B9D0}"/>
              </a:ext>
            </a:extLst>
          </p:cNvPr>
          <p:cNvSpPr txBox="1"/>
          <p:nvPr/>
        </p:nvSpPr>
        <p:spPr>
          <a:xfrm>
            <a:off x="4780483" y="3089335"/>
            <a:ext cx="2297025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Karla"/>
                <a:ea typeface="Manrope"/>
                <a:cs typeface="Manrope"/>
                <a:sym typeface="Manrope"/>
              </a:rPr>
              <a:t>`status`</a:t>
            </a:r>
            <a:endParaRPr lang="en" sz="1800" b="1" dirty="0">
              <a:solidFill>
                <a:schemeClr val="dk1"/>
              </a:solidFill>
              <a:latin typeface="Karla"/>
              <a:ea typeface="Manrope"/>
              <a:cs typeface="Manrope"/>
            </a:endParaRPr>
          </a:p>
        </p:txBody>
      </p:sp>
      <p:sp>
        <p:nvSpPr>
          <p:cNvPr id="413" name="Google Shape;413;p42">
            <a:extLst>
              <a:ext uri="{FF2B5EF4-FFF2-40B4-BE49-F238E27FC236}">
                <a16:creationId xmlns:a16="http://schemas.microsoft.com/office/drawing/2014/main" id="{D77AC34F-40EF-6B37-D71A-74193AF9BE02}"/>
              </a:ext>
            </a:extLst>
          </p:cNvPr>
          <p:cNvSpPr txBox="1"/>
          <p:nvPr/>
        </p:nvSpPr>
        <p:spPr>
          <a:xfrm>
            <a:off x="4766076" y="3476052"/>
            <a:ext cx="3805016" cy="144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en" sz="1200" dirty="0">
                <a:solidFill>
                  <a:schemeClr val="dk1"/>
                </a:solidFill>
                <a:latin typeface="Karla"/>
                <a:ea typeface="Karla"/>
                <a:cs typeface="Karla"/>
              </a:rPr>
              <a:t>"successful"</a:t>
            </a:r>
            <a:endParaRPr lang="en-US">
              <a:solidFill>
                <a:schemeClr val="dk1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" sz="1200" dirty="0">
                <a:solidFill>
                  <a:schemeClr val="dk1"/>
                </a:solidFill>
                <a:latin typeface="Karla"/>
                <a:ea typeface="Karla"/>
                <a:cs typeface="Karla"/>
              </a:rPr>
              <a:t>"failed"</a:t>
            </a:r>
          </a:p>
          <a:p>
            <a:pPr marL="171450" indent="-171450">
              <a:buFont typeface="Arial"/>
              <a:buChar char="•"/>
            </a:pPr>
            <a:r>
              <a:rPr lang="en" sz="1200" dirty="0">
                <a:solidFill>
                  <a:schemeClr val="dk1"/>
                </a:solidFill>
                <a:latin typeface="Karla"/>
                <a:ea typeface="Karla"/>
                <a:cs typeface="Karla"/>
              </a:rPr>
              <a:t>"submitted"</a:t>
            </a:r>
          </a:p>
          <a:p>
            <a:pPr marL="171450" indent="-171450">
              <a:buFont typeface="Arial"/>
              <a:buChar char="•"/>
            </a:pPr>
            <a:endParaRPr lang="en" sz="1200" dirty="0">
              <a:solidFill>
                <a:schemeClr val="dk1"/>
              </a:solidFill>
              <a:latin typeface="Karla"/>
              <a:ea typeface="Karla"/>
              <a:cs typeface="Karla"/>
            </a:endParaRPr>
          </a:p>
          <a:p>
            <a:r>
              <a:rPr lang="en" sz="1200" dirty="0">
                <a:solidFill>
                  <a:schemeClr val="dk1"/>
                </a:solidFill>
                <a:latin typeface="Karla"/>
                <a:ea typeface="Karla"/>
                <a:cs typeface="Karla"/>
              </a:rPr>
              <a:t>For this project, we only care about projects with determined outcome, </a:t>
            </a:r>
            <a:r>
              <a:rPr lang="en" sz="1200" b="1" dirty="0">
                <a:solidFill>
                  <a:schemeClr val="dk1"/>
                </a:solidFill>
                <a:latin typeface="Karla"/>
                <a:ea typeface="Karla"/>
                <a:cs typeface="Karla"/>
              </a:rPr>
              <a:t>successful or failed</a:t>
            </a:r>
          </a:p>
        </p:txBody>
      </p:sp>
      <p:sp>
        <p:nvSpPr>
          <p:cNvPr id="414" name="Google Shape;414;p42">
            <a:extLst>
              <a:ext uri="{FF2B5EF4-FFF2-40B4-BE49-F238E27FC236}">
                <a16:creationId xmlns:a16="http://schemas.microsoft.com/office/drawing/2014/main" id="{774FF46B-8244-B3F8-C5AE-18D079D45F6E}"/>
              </a:ext>
            </a:extLst>
          </p:cNvPr>
          <p:cNvSpPr/>
          <p:nvPr/>
        </p:nvSpPr>
        <p:spPr>
          <a:xfrm>
            <a:off x="720000" y="1270000"/>
            <a:ext cx="3249300" cy="7974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2400" b="1" dirty="0">
                <a:solidFill>
                  <a:schemeClr val="accent1"/>
                </a:solidFill>
                <a:latin typeface="Karla"/>
              </a:rPr>
              <a:t>1 Snapshot | 83 Files</a:t>
            </a:r>
          </a:p>
        </p:txBody>
      </p:sp>
      <p:sp>
        <p:nvSpPr>
          <p:cNvPr id="415" name="Google Shape;415;p42">
            <a:extLst>
              <a:ext uri="{FF2B5EF4-FFF2-40B4-BE49-F238E27FC236}">
                <a16:creationId xmlns:a16="http://schemas.microsoft.com/office/drawing/2014/main" id="{C3892BBB-C912-CDF9-EE5A-BA51F30C53A0}"/>
              </a:ext>
            </a:extLst>
          </p:cNvPr>
          <p:cNvSpPr/>
          <p:nvPr/>
        </p:nvSpPr>
        <p:spPr>
          <a:xfrm>
            <a:off x="720000" y="3701475"/>
            <a:ext cx="3249300" cy="7974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2400" b="1" dirty="0">
                <a:solidFill>
                  <a:schemeClr val="dk1"/>
                </a:solidFill>
                <a:latin typeface="Karla"/>
                <a:sym typeface="Manrope"/>
              </a:rPr>
              <a:t>Target: status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416" name="Google Shape;416;p42">
            <a:extLst>
              <a:ext uri="{FF2B5EF4-FFF2-40B4-BE49-F238E27FC236}">
                <a16:creationId xmlns:a16="http://schemas.microsoft.com/office/drawing/2014/main" id="{A765D703-EAD9-B9CC-31D0-8A1A6877BB01}"/>
              </a:ext>
            </a:extLst>
          </p:cNvPr>
          <p:cNvSpPr/>
          <p:nvPr/>
        </p:nvSpPr>
        <p:spPr>
          <a:xfrm>
            <a:off x="720000" y="2485738"/>
            <a:ext cx="3249300" cy="797400"/>
          </a:xfrm>
          <a:prstGeom prst="snip1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2400" b="1" dirty="0">
                <a:solidFill>
                  <a:schemeClr val="accent1"/>
                </a:solidFill>
                <a:latin typeface="Karla"/>
              </a:rPr>
              <a:t>(262892, 42) RAW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306E82-397B-7E71-6B7E-64D511E82404}"/>
              </a:ext>
            </a:extLst>
          </p:cNvPr>
          <p:cNvSpPr txBox="1"/>
          <p:nvPr/>
        </p:nvSpPr>
        <p:spPr>
          <a:xfrm>
            <a:off x="4764101" y="501863"/>
            <a:ext cx="45720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191919"/>
                </a:solidFill>
                <a:latin typeface="Karla"/>
              </a:rPr>
              <a:t>Features</a:t>
            </a:r>
            <a:endParaRPr lang="en-US" dirty="0"/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B8EBA-36F8-DED8-85D4-BF7F0AF78D5A}"/>
              </a:ext>
            </a:extLst>
          </p:cNvPr>
          <p:cNvSpPr txBox="1"/>
          <p:nvPr/>
        </p:nvSpPr>
        <p:spPr>
          <a:xfrm>
            <a:off x="6272092" y="3479427"/>
            <a:ext cx="1411942" cy="885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lvl="0" indent="-171450" rtl="0">
              <a:buChar char="•"/>
            </a:pPr>
            <a:r>
              <a:rPr lang="en-US" sz="1200" baseline="0" dirty="0">
                <a:solidFill>
                  <a:srgbClr val="191919"/>
                </a:solidFill>
                <a:latin typeface="Karla"/>
                <a:ea typeface="Arial"/>
                <a:cs typeface="Arial"/>
              </a:rPr>
              <a:t>"live"</a:t>
            </a:r>
            <a:r>
              <a:rPr lang="en-US" sz="1200" dirty="0">
                <a:solidFill>
                  <a:srgbClr val="191919"/>
                </a:solidFill>
                <a:latin typeface="Karla"/>
                <a:ea typeface="Arial"/>
                <a:cs typeface="Arial"/>
              </a:rPr>
              <a:t>​</a:t>
            </a:r>
            <a:endParaRPr lang="en-US" dirty="0"/>
          </a:p>
          <a:p>
            <a:pPr marL="171450" lvl="0" indent="-171450" rtl="0">
              <a:buChar char="•"/>
            </a:pPr>
            <a:r>
              <a:rPr lang="en-US" sz="1200" baseline="0">
                <a:solidFill>
                  <a:srgbClr val="191919"/>
                </a:solidFill>
                <a:latin typeface="Karla"/>
                <a:ea typeface="Arial"/>
                <a:cs typeface="Arial"/>
              </a:rPr>
              <a:t>"canceled"</a:t>
            </a:r>
            <a:r>
              <a:rPr lang="en-US" sz="1200">
                <a:solidFill>
                  <a:srgbClr val="191919"/>
                </a:solidFill>
                <a:latin typeface="Karla"/>
                <a:ea typeface="Arial"/>
                <a:cs typeface="Arial"/>
              </a:rPr>
              <a:t>​</a:t>
            </a:r>
          </a:p>
          <a:p>
            <a:pPr marL="171450" lvl="0" indent="-171450" rtl="0">
              <a:buChar char="•"/>
            </a:pPr>
            <a:r>
              <a:rPr lang="en-US" sz="1200" baseline="0">
                <a:solidFill>
                  <a:srgbClr val="191919"/>
                </a:solidFill>
                <a:latin typeface="Karla"/>
                <a:ea typeface="Arial"/>
                <a:cs typeface="Arial"/>
              </a:rPr>
              <a:t>"suspended"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15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540814C0-FFE9-5E99-4365-FD90B551B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>
            <a:extLst>
              <a:ext uri="{FF2B5EF4-FFF2-40B4-BE49-F238E27FC236}">
                <a16:creationId xmlns:a16="http://schemas.microsoft.com/office/drawing/2014/main" id="{966DBDB5-8B5E-D065-DAC9-3F50D19AA6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713225" y="2727750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Preprocessing</a:t>
            </a:r>
          </a:p>
        </p:txBody>
      </p:sp>
      <p:sp>
        <p:nvSpPr>
          <p:cNvPr id="197" name="Google Shape;197;p30">
            <a:extLst>
              <a:ext uri="{FF2B5EF4-FFF2-40B4-BE49-F238E27FC236}">
                <a16:creationId xmlns:a16="http://schemas.microsoft.com/office/drawing/2014/main" id="{AA4CC661-46B8-DDF3-F5F7-06366266182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 flipH="1">
            <a:off x="3205625" y="1584150"/>
            <a:ext cx="1891200" cy="12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03</a:t>
            </a:r>
            <a:endParaRPr dirty="0">
              <a:latin typeface="Karla"/>
            </a:endParaRPr>
          </a:p>
        </p:txBody>
      </p:sp>
      <p:pic>
        <p:nvPicPr>
          <p:cNvPr id="198" name="Google Shape;198;p30">
            <a:extLst>
              <a:ext uri="{FF2B5EF4-FFF2-40B4-BE49-F238E27FC236}">
                <a16:creationId xmlns:a16="http://schemas.microsoft.com/office/drawing/2014/main" id="{B76EF8F7-26C7-35E0-766B-0EF17B6A3EE7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5116" b="5116"/>
          <a:stretch/>
        </p:blipFill>
        <p:spPr>
          <a:xfrm>
            <a:off x="6506200" y="1584150"/>
            <a:ext cx="2643299" cy="3559354"/>
          </a:xfrm>
          <a:prstGeom prst="rect">
            <a:avLst/>
          </a:prstGeom>
        </p:spPr>
      </p:pic>
      <p:sp>
        <p:nvSpPr>
          <p:cNvPr id="199" name="Google Shape;199;p30">
            <a:extLst>
              <a:ext uri="{FF2B5EF4-FFF2-40B4-BE49-F238E27FC236}">
                <a16:creationId xmlns:a16="http://schemas.microsoft.com/office/drawing/2014/main" id="{E876D0ED-F428-6EA8-0337-9131685AE386}"/>
              </a:ext>
            </a:extLst>
          </p:cNvPr>
          <p:cNvSpPr/>
          <p:nvPr/>
        </p:nvSpPr>
        <p:spPr>
          <a:xfrm>
            <a:off x="0" y="1584150"/>
            <a:ext cx="2760600" cy="9258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4269625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535BFD68-0C70-5524-3AB9-CF5D3D57F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data integrity&#10;&#10;AI-generated content may be incorrect.">
            <a:extLst>
              <a:ext uri="{FF2B5EF4-FFF2-40B4-BE49-F238E27FC236}">
                <a16:creationId xmlns:a16="http://schemas.microsoft.com/office/drawing/2014/main" id="{D687DF5E-112A-5BF0-088D-3893F5A92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70" y="653624"/>
            <a:ext cx="8221916" cy="32695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D7B7FE-71E1-14F8-AA35-9B1035B06DE6}"/>
              </a:ext>
            </a:extLst>
          </p:cNvPr>
          <p:cNvSpPr txBox="1"/>
          <p:nvPr/>
        </p:nvSpPr>
        <p:spPr>
          <a:xfrm>
            <a:off x="57599" y="4328328"/>
            <a:ext cx="189634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Karla"/>
              </a:rPr>
              <a:t>Preprocessing</a:t>
            </a:r>
            <a:br>
              <a:rPr lang="en-US" sz="1600" dirty="0">
                <a:solidFill>
                  <a:schemeClr val="accent1"/>
                </a:solidFill>
                <a:latin typeface="Karla"/>
              </a:rPr>
            </a:br>
            <a:r>
              <a:rPr lang="en-US" sz="1600" dirty="0">
                <a:solidFill>
                  <a:schemeClr val="accent1"/>
                </a:solidFill>
                <a:latin typeface="Karla"/>
              </a:rPr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3988310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>
            <a:spLocks noGrp="1"/>
          </p:cNvSpPr>
          <p:nvPr>
            <p:ph type="subTitle" idx="1"/>
          </p:nvPr>
        </p:nvSpPr>
        <p:spPr>
          <a:xfrm>
            <a:off x="723900" y="1710151"/>
            <a:ext cx="3761052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en" dirty="0"/>
              <a:t>Duplication analysis: duplicate ids, decide which one to keep</a:t>
            </a:r>
          </a:p>
          <a:p>
            <a:pPr marL="171450" indent="-171450">
              <a:buFont typeface="Arial"/>
              <a:buChar char="•"/>
            </a:pPr>
            <a:r>
              <a:rPr lang="en" dirty="0"/>
              <a:t>True duplication removal</a:t>
            </a:r>
          </a:p>
          <a:p>
            <a:pPr marL="171450" indent="-171450">
              <a:buFont typeface="Arial"/>
              <a:buChar char="•"/>
            </a:pPr>
            <a:endParaRPr lang="en-US" dirty="0"/>
          </a:p>
        </p:txBody>
      </p:sp>
      <p:sp>
        <p:nvSpPr>
          <p:cNvPr id="241" name="Google Shape;241;p34"/>
          <p:cNvSpPr txBox="1">
            <a:spLocks noGrp="1"/>
          </p:cNvSpPr>
          <p:nvPr>
            <p:ph type="subTitle" idx="3"/>
          </p:nvPr>
        </p:nvSpPr>
        <p:spPr>
          <a:xfrm>
            <a:off x="731699" y="2753091"/>
            <a:ext cx="6871367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Examining features closer to inform handling, either imputation, engineering, or dropping.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main challenges: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Messy nested JSON features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Many types of missingness to solve:</a:t>
            </a:r>
          </a:p>
          <a:p>
            <a:pPr marL="628650" lvl="1" indent="-171450" algn="l">
              <a:buFontTx/>
              <a:buChar char="-"/>
            </a:pPr>
            <a:r>
              <a:rPr lang="en-US" dirty="0"/>
              <a:t>Some can be directly imputed using equation</a:t>
            </a:r>
          </a:p>
          <a:p>
            <a:pPr marL="628650" lvl="1" indent="-171450" algn="l">
              <a:buFontTx/>
              <a:buChar char="-"/>
            </a:pPr>
            <a:r>
              <a:rPr lang="en-US" dirty="0"/>
              <a:t>Some directly use missingness as signal</a:t>
            </a:r>
          </a:p>
          <a:p>
            <a:pPr marL="628650" lvl="1" indent="-171450" algn="l">
              <a:buFontTx/>
              <a:buChar char="-"/>
            </a:pPr>
            <a:r>
              <a:rPr lang="en-US" dirty="0"/>
              <a:t>Goal: Keep as much info as possible, robustly impute as much as possible.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dirty="0"/>
          </a:p>
        </p:txBody>
      </p:sp>
      <p:sp>
        <p:nvSpPr>
          <p:cNvPr id="243" name="Google Shape;243;p34"/>
          <p:cNvSpPr txBox="1">
            <a:spLocks noGrp="1"/>
          </p:cNvSpPr>
          <p:nvPr>
            <p:ph type="subTitle" idx="7"/>
          </p:nvPr>
        </p:nvSpPr>
        <p:spPr>
          <a:xfrm>
            <a:off x="731700" y="1136475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Deduplication</a:t>
            </a:r>
            <a:endParaRPr dirty="0">
              <a:latin typeface="Karla"/>
            </a:endParaRPr>
          </a:p>
        </p:txBody>
      </p:sp>
      <p:sp>
        <p:nvSpPr>
          <p:cNvPr id="248" name="Google Shape;248;p34"/>
          <p:cNvSpPr txBox="1">
            <a:spLocks noGrp="1"/>
          </p:cNvSpPr>
          <p:nvPr>
            <p:ph type="subTitle" idx="13"/>
          </p:nvPr>
        </p:nvSpPr>
        <p:spPr>
          <a:xfrm>
            <a:off x="731700" y="2176291"/>
            <a:ext cx="3753253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dirty="0">
                <a:latin typeface="Karla"/>
              </a:rPr>
              <a:t>Handle Missingness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B6AF92-8B55-0D54-5B13-2AE4E878F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Karla"/>
              </a:rPr>
              <a:t>Integrity Analysis</a:t>
            </a:r>
          </a:p>
        </p:txBody>
      </p:sp>
      <p:pic>
        <p:nvPicPr>
          <p:cNvPr id="4" name="Picture 3" descr="A blue square with black text&#10;&#10;AI-generated content may be incorrect.">
            <a:extLst>
              <a:ext uri="{FF2B5EF4-FFF2-40B4-BE49-F238E27FC236}">
                <a16:creationId xmlns:a16="http://schemas.microsoft.com/office/drawing/2014/main" id="{58EC13E4-5665-0522-16BD-3F8F9168B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252" y="205036"/>
            <a:ext cx="2093900" cy="10498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F3627B-19D1-C8F7-762B-C854E94C3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783" y="1443634"/>
            <a:ext cx="3847262" cy="11281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E283F6B0-F008-82A8-4358-56940581A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>
            <a:extLst>
              <a:ext uri="{FF2B5EF4-FFF2-40B4-BE49-F238E27FC236}">
                <a16:creationId xmlns:a16="http://schemas.microsoft.com/office/drawing/2014/main" id="{E62851EB-89C7-F8BF-52FB-4AB039628AD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8703" y="1710151"/>
            <a:ext cx="2629537" cy="3131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>
              <a:buAutoNum type="arabicPeriod"/>
            </a:pPr>
            <a:r>
              <a:rPr lang="en" dirty="0"/>
              <a:t>Parse, and fix JSON errors</a:t>
            </a:r>
          </a:p>
          <a:p>
            <a:pPr marL="228600" indent="-228600">
              <a:buAutoNum type="arabicPeriod"/>
            </a:pPr>
            <a:r>
              <a:rPr lang="en" dirty="0"/>
              <a:t>Load as JSON</a:t>
            </a:r>
          </a:p>
          <a:p>
            <a:pPr marL="228600" indent="-228600">
              <a:buAutoNum type="arabicPeriod"/>
            </a:pPr>
            <a:r>
              <a:rPr lang="en" dirty="0"/>
              <a:t>Extract</a:t>
            </a:r>
          </a:p>
          <a:p>
            <a:pPr marL="0" indent="0"/>
            <a:endParaRPr lang="en" dirty="0"/>
          </a:p>
          <a:p>
            <a:pPr marL="0" indent="0"/>
            <a:r>
              <a:rPr lang="en" b="1" dirty="0"/>
              <a:t>Example:</a:t>
            </a:r>
          </a:p>
          <a:p>
            <a:pPr marL="0" indent="0"/>
            <a:r>
              <a:rPr lang="en" dirty="0"/>
              <a:t>{</a:t>
            </a:r>
            <a:br>
              <a:rPr lang="en" dirty="0"/>
            </a:br>
            <a:r>
              <a:rPr lang="en" dirty="0"/>
              <a:t> 'id': 284,</a:t>
            </a:r>
          </a:p>
          <a:p>
            <a:pPr marL="0" indent="0"/>
            <a:r>
              <a:rPr lang="en" dirty="0"/>
              <a:t> 'name': 'Musical',</a:t>
            </a:r>
          </a:p>
          <a:p>
            <a:pPr marL="0" indent="0"/>
            <a:r>
              <a:rPr lang="en" dirty="0"/>
              <a:t> '</a:t>
            </a:r>
            <a:r>
              <a:rPr lang="en" dirty="0" err="1"/>
              <a:t>analytics_name</a:t>
            </a:r>
            <a:r>
              <a:rPr lang="en" dirty="0"/>
              <a:t>': 'Musical',</a:t>
            </a:r>
          </a:p>
          <a:p>
            <a:pPr marL="0" indent="0"/>
            <a:r>
              <a:rPr lang="en" dirty="0"/>
              <a:t> 'slug': 'theater/musical',</a:t>
            </a:r>
          </a:p>
          <a:p>
            <a:pPr marL="0" indent="0"/>
            <a:r>
              <a:rPr lang="en" dirty="0"/>
              <a:t> 'position': 5,</a:t>
            </a:r>
          </a:p>
          <a:p>
            <a:pPr marL="0" indent="0"/>
            <a:r>
              <a:rPr lang="en" dirty="0"/>
              <a:t> '</a:t>
            </a:r>
            <a:r>
              <a:rPr lang="en" dirty="0" err="1"/>
              <a:t>parent_id</a:t>
            </a:r>
            <a:r>
              <a:rPr lang="en" dirty="0"/>
              <a:t>',</a:t>
            </a:r>
          </a:p>
          <a:p>
            <a:pPr marL="0" indent="0"/>
            <a:r>
              <a:rPr lang="en" dirty="0"/>
              <a:t> '</a:t>
            </a:r>
            <a:r>
              <a:rPr lang="en" dirty="0" err="1"/>
              <a:t>parent_name</a:t>
            </a:r>
            <a:r>
              <a:rPr lang="en" dirty="0"/>
              <a:t>': 'Theater',</a:t>
            </a:r>
          </a:p>
          <a:p>
            <a:pPr marL="0" indent="0"/>
            <a:r>
              <a:rPr lang="en" dirty="0"/>
              <a:t> 'color': 16743775,</a:t>
            </a:r>
          </a:p>
          <a:p>
            <a:pPr marL="0" indent="0"/>
            <a:r>
              <a:rPr lang="en" dirty="0"/>
              <a:t> '</a:t>
            </a:r>
            <a:r>
              <a:rPr lang="en" dirty="0" err="1"/>
              <a:t>urls</a:t>
            </a:r>
            <a:r>
              <a:rPr lang="en" dirty="0"/>
              <a:t>': {...}</a:t>
            </a:r>
          </a:p>
          <a:p>
            <a:pPr marL="0" indent="0"/>
            <a:r>
              <a:rPr lang="en" dirty="0"/>
              <a:t>}</a:t>
            </a:r>
          </a:p>
        </p:txBody>
      </p:sp>
      <p:sp>
        <p:nvSpPr>
          <p:cNvPr id="240" name="Google Shape;240;p34">
            <a:extLst>
              <a:ext uri="{FF2B5EF4-FFF2-40B4-BE49-F238E27FC236}">
                <a16:creationId xmlns:a16="http://schemas.microsoft.com/office/drawing/2014/main" id="{42AE515D-6FC6-4BC0-AFE6-1ECBF038669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173732" y="1710161"/>
            <a:ext cx="2960912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en" dirty="0"/>
              <a:t>Removal of repeated information, later correlation analysis for help.</a:t>
            </a:r>
            <a:endParaRPr lang="en-US"/>
          </a:p>
          <a:p>
            <a:pPr marL="171450" indent="-171450">
              <a:buFont typeface="Arial"/>
              <a:buChar char="•"/>
            </a:pPr>
            <a:endParaRPr lang="en" dirty="0"/>
          </a:p>
          <a:p>
            <a:pPr marL="171450" indent="-171450">
              <a:buFont typeface="Arial"/>
              <a:buChar char="•"/>
            </a:pPr>
            <a:r>
              <a:rPr lang="en" dirty="0"/>
              <a:t>Removal of irrelevant features, like </a:t>
            </a:r>
            <a:r>
              <a:rPr lang="en" dirty="0" err="1"/>
              <a:t>urls</a:t>
            </a:r>
            <a:r>
              <a:rPr lang="en" dirty="0"/>
              <a:t>, and UI attributes</a:t>
            </a:r>
          </a:p>
        </p:txBody>
      </p:sp>
      <p:sp>
        <p:nvSpPr>
          <p:cNvPr id="242" name="Google Shape;242;p34">
            <a:extLst>
              <a:ext uri="{FF2B5EF4-FFF2-40B4-BE49-F238E27FC236}">
                <a16:creationId xmlns:a16="http://schemas.microsoft.com/office/drawing/2014/main" id="{CC670944-BF1B-7683-03CF-4B700DEE543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173732" y="3498800"/>
            <a:ext cx="2855256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en" dirty="0"/>
              <a:t>Overlap with `state`="successful"</a:t>
            </a:r>
          </a:p>
          <a:p>
            <a:pPr marL="171450" indent="-171450">
              <a:buFont typeface="Arial"/>
              <a:buChar char="•"/>
            </a:pPr>
            <a:r>
              <a:rPr lang="en" dirty="0"/>
              <a:t>'</a:t>
            </a:r>
            <a:r>
              <a:rPr lang="en" dirty="0" err="1"/>
              <a:t>backers_count</a:t>
            </a:r>
            <a:r>
              <a:rPr lang="en" dirty="0"/>
              <a:t>', 'pledged', '</a:t>
            </a:r>
            <a:r>
              <a:rPr lang="en" dirty="0" err="1"/>
              <a:t>percent_funded</a:t>
            </a:r>
            <a:r>
              <a:rPr lang="en" dirty="0"/>
              <a:t>', 'spotlight', ...</a:t>
            </a:r>
          </a:p>
        </p:txBody>
      </p:sp>
      <p:sp>
        <p:nvSpPr>
          <p:cNvPr id="243" name="Google Shape;243;p34">
            <a:extLst>
              <a:ext uri="{FF2B5EF4-FFF2-40B4-BE49-F238E27FC236}">
                <a16:creationId xmlns:a16="http://schemas.microsoft.com/office/drawing/2014/main" id="{F3C49BB0-BBFA-8F67-DC11-523D3E8E304F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731700" y="1136475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dirty="0">
                <a:latin typeface="Karla"/>
              </a:rPr>
              <a:t>Extract Nested</a:t>
            </a:r>
          </a:p>
        </p:txBody>
      </p:sp>
      <p:sp>
        <p:nvSpPr>
          <p:cNvPr id="244" name="Google Shape;244;p34">
            <a:extLst>
              <a:ext uri="{FF2B5EF4-FFF2-40B4-BE49-F238E27FC236}">
                <a16:creationId xmlns:a16="http://schemas.microsoft.com/office/drawing/2014/main" id="{7C47B0F0-1F50-4103-16CB-E55A71D934FE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174780" y="11364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dirty="0">
                <a:latin typeface="Karla"/>
              </a:rPr>
              <a:t>Irrelevant / Redundant</a:t>
            </a:r>
            <a:endParaRPr dirty="0">
              <a:latin typeface="Karla"/>
            </a:endParaRPr>
          </a:p>
        </p:txBody>
      </p:sp>
      <p:sp>
        <p:nvSpPr>
          <p:cNvPr id="249" name="Google Shape;249;p34">
            <a:extLst>
              <a:ext uri="{FF2B5EF4-FFF2-40B4-BE49-F238E27FC236}">
                <a16:creationId xmlns:a16="http://schemas.microsoft.com/office/drawing/2014/main" id="{05221D46-E9AA-7AEA-62C4-87B96D1FBACE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3174781" y="2922000"/>
            <a:ext cx="2640947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dirty="0">
                <a:latin typeface="Karla"/>
              </a:rPr>
              <a:t>Leakage Prevention </a:t>
            </a:r>
            <a:endParaRPr dirty="0">
              <a:latin typeface="Karl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055D94-C74D-1CC8-7CA5-E8B3596DC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Karla"/>
              </a:rPr>
              <a:t>Filtering and Engineering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03235D-89B1-A8D9-3E20-4566EA2EB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318" y="201314"/>
            <a:ext cx="3241702" cy="1508772"/>
          </a:xfrm>
          <a:prstGeom prst="rect">
            <a:avLst/>
          </a:prstGeom>
        </p:spPr>
      </p:pic>
      <p:sp>
        <p:nvSpPr>
          <p:cNvPr id="24" name="Google Shape;242;p34">
            <a:extLst>
              <a:ext uri="{FF2B5EF4-FFF2-40B4-BE49-F238E27FC236}">
                <a16:creationId xmlns:a16="http://schemas.microsoft.com/office/drawing/2014/main" id="{2ABED56E-49DA-505B-25A4-145E6BFAB895}"/>
              </a:ext>
            </a:extLst>
          </p:cNvPr>
          <p:cNvSpPr txBox="1">
            <a:spLocks/>
          </p:cNvSpPr>
          <p:nvPr/>
        </p:nvSpPr>
        <p:spPr>
          <a:xfrm>
            <a:off x="6126001" y="2498595"/>
            <a:ext cx="2855256" cy="1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None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71450" indent="-171450">
              <a:buFont typeface="Arial"/>
              <a:buChar char="•"/>
            </a:pPr>
            <a:r>
              <a:rPr lang="en" dirty="0"/>
              <a:t>Take irrelevant or relevant feature and turn it into something that can be used:</a:t>
            </a:r>
            <a:endParaRPr lang="en-US"/>
          </a:p>
          <a:p>
            <a:pPr marL="171450" indent="-171450">
              <a:buFont typeface="Arial"/>
              <a:buChar char="•"/>
            </a:pPr>
            <a:endParaRPr lang="en" dirty="0"/>
          </a:p>
          <a:p>
            <a:pPr marL="0" indent="0"/>
            <a:r>
              <a:rPr lang="en" dirty="0"/>
              <a:t>Example:</a:t>
            </a:r>
          </a:p>
          <a:p>
            <a:pPr marL="171450" indent="-171450">
              <a:buFont typeface="Arial"/>
              <a:buChar char="•"/>
            </a:pPr>
            <a:r>
              <a:rPr lang="en" dirty="0"/>
              <a:t>'video' -&gt; '</a:t>
            </a:r>
            <a:r>
              <a:rPr lang="en" err="1"/>
              <a:t>has_video</a:t>
            </a:r>
            <a:r>
              <a:rPr lang="en" dirty="0"/>
              <a:t>'</a:t>
            </a:r>
          </a:p>
          <a:p>
            <a:pPr marL="171450" indent="-171450">
              <a:buFont typeface="Arial"/>
              <a:buChar char="•"/>
            </a:pPr>
            <a:r>
              <a:rPr lang="en" dirty="0"/>
              <a:t>'blurb' -&gt; '</a:t>
            </a:r>
            <a:r>
              <a:rPr lang="en" err="1"/>
              <a:t>blurb_len</a:t>
            </a:r>
            <a:r>
              <a:rPr lang="en" dirty="0"/>
              <a:t>'</a:t>
            </a:r>
          </a:p>
          <a:p>
            <a:pPr marL="171450" indent="-171450">
              <a:buFont typeface="Arial"/>
              <a:buChar char="•"/>
            </a:pPr>
            <a:r>
              <a:rPr lang="en" dirty="0"/>
              <a:t>'deadline' - '</a:t>
            </a:r>
            <a:r>
              <a:rPr lang="en" err="1"/>
              <a:t>launched_at</a:t>
            </a:r>
            <a:r>
              <a:rPr lang="en" dirty="0"/>
              <a:t>' -&gt; </a:t>
            </a:r>
            <a:br>
              <a:rPr lang="en" dirty="0"/>
            </a:br>
            <a:r>
              <a:rPr lang="en" dirty="0"/>
              <a:t>     duration</a:t>
            </a:r>
          </a:p>
        </p:txBody>
      </p:sp>
      <p:sp>
        <p:nvSpPr>
          <p:cNvPr id="26" name="Google Shape;249;p34">
            <a:extLst>
              <a:ext uri="{FF2B5EF4-FFF2-40B4-BE49-F238E27FC236}">
                <a16:creationId xmlns:a16="http://schemas.microsoft.com/office/drawing/2014/main" id="{0A1144E3-0F16-08E9-D72B-3093EA653728}"/>
              </a:ext>
            </a:extLst>
          </p:cNvPr>
          <p:cNvSpPr txBox="1">
            <a:spLocks/>
          </p:cNvSpPr>
          <p:nvPr/>
        </p:nvSpPr>
        <p:spPr>
          <a:xfrm>
            <a:off x="6127050" y="1921795"/>
            <a:ext cx="2640947" cy="6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dirty="0">
                <a:latin typeface="Karla"/>
              </a:rPr>
              <a:t>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205927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AE657392-7FAF-2E1D-C837-80C3E8732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>
            <a:extLst>
              <a:ext uri="{FF2B5EF4-FFF2-40B4-BE49-F238E27FC236}">
                <a16:creationId xmlns:a16="http://schemas.microsoft.com/office/drawing/2014/main" id="{BA5E2609-2745-746F-00B8-02487D9105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713225" y="2727750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latin typeface="Karla"/>
              </a:rPr>
              <a:t>Exploratory Analysis</a:t>
            </a:r>
          </a:p>
        </p:txBody>
      </p:sp>
      <p:sp>
        <p:nvSpPr>
          <p:cNvPr id="197" name="Google Shape;197;p30">
            <a:extLst>
              <a:ext uri="{FF2B5EF4-FFF2-40B4-BE49-F238E27FC236}">
                <a16:creationId xmlns:a16="http://schemas.microsoft.com/office/drawing/2014/main" id="{243ADF14-4D22-5F57-386C-CECDAE53673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 flipH="1">
            <a:off x="3205625" y="1584150"/>
            <a:ext cx="1891200" cy="12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04</a:t>
            </a:r>
            <a:endParaRPr dirty="0">
              <a:latin typeface="Karla"/>
            </a:endParaRPr>
          </a:p>
        </p:txBody>
      </p:sp>
      <p:pic>
        <p:nvPicPr>
          <p:cNvPr id="198" name="Google Shape;198;p30">
            <a:extLst>
              <a:ext uri="{FF2B5EF4-FFF2-40B4-BE49-F238E27FC236}">
                <a16:creationId xmlns:a16="http://schemas.microsoft.com/office/drawing/2014/main" id="{B97EA82E-89C7-4AF6-FF2B-EF6C563F9E5B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5116" b="5116"/>
          <a:stretch/>
        </p:blipFill>
        <p:spPr>
          <a:xfrm>
            <a:off x="6506200" y="1584150"/>
            <a:ext cx="2643299" cy="3559354"/>
          </a:xfrm>
          <a:prstGeom prst="rect">
            <a:avLst/>
          </a:prstGeom>
        </p:spPr>
      </p:pic>
      <p:sp>
        <p:nvSpPr>
          <p:cNvPr id="199" name="Google Shape;199;p30">
            <a:extLst>
              <a:ext uri="{FF2B5EF4-FFF2-40B4-BE49-F238E27FC236}">
                <a16:creationId xmlns:a16="http://schemas.microsoft.com/office/drawing/2014/main" id="{CC999AD1-1810-9DF9-2276-F81172AF5868}"/>
              </a:ext>
            </a:extLst>
          </p:cNvPr>
          <p:cNvSpPr/>
          <p:nvPr/>
        </p:nvSpPr>
        <p:spPr>
          <a:xfrm>
            <a:off x="0" y="1584150"/>
            <a:ext cx="2760600" cy="9258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3891576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FCC1B781-C355-5299-BDE1-F6C7EF365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942D291-9FC6-E316-5445-119C8A97A78E}"/>
              </a:ext>
            </a:extLst>
          </p:cNvPr>
          <p:cNvSpPr txBox="1"/>
          <p:nvPr/>
        </p:nvSpPr>
        <p:spPr>
          <a:xfrm>
            <a:off x="57599" y="4328328"/>
            <a:ext cx="189634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Karla"/>
              </a:rPr>
              <a:t>EDA</a:t>
            </a:r>
            <a:br>
              <a:rPr lang="en-US" sz="1600" dirty="0">
                <a:solidFill>
                  <a:schemeClr val="accent1"/>
                </a:solidFill>
                <a:latin typeface="Karla"/>
              </a:rPr>
            </a:br>
            <a:r>
              <a:rPr lang="en-US" sz="1600" dirty="0">
                <a:solidFill>
                  <a:schemeClr val="accent1"/>
                </a:solidFill>
                <a:latin typeface="Karla"/>
              </a:rPr>
              <a:t>Pipeline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2" name="Picture 1" descr="A diagram of a diagram&#10;&#10;AI-generated content may be incorrect.">
            <a:extLst>
              <a:ext uri="{FF2B5EF4-FFF2-40B4-BE49-F238E27FC236}">
                <a16:creationId xmlns:a16="http://schemas.microsoft.com/office/drawing/2014/main" id="{BE5898B3-2C45-7843-33C9-0A99F9589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512" y="998925"/>
            <a:ext cx="4374174" cy="271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395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AE9F7D80-28CD-2FEF-6A46-413DB023D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E04F984-CD74-ED2B-B2BA-8E142AD89945}"/>
              </a:ext>
            </a:extLst>
          </p:cNvPr>
          <p:cNvSpPr txBox="1"/>
          <p:nvPr/>
        </p:nvSpPr>
        <p:spPr>
          <a:xfrm>
            <a:off x="57599" y="4328328"/>
            <a:ext cx="189634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Category Frequency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Distributions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00BEFF-A970-91EB-80F7-E4E59A4D2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822" y="0"/>
            <a:ext cx="5139178" cy="5143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850FFA-35BB-23B4-457A-7E33BD9C13D6}"/>
              </a:ext>
            </a:extLst>
          </p:cNvPr>
          <p:cNvSpPr txBox="1"/>
          <p:nvPr/>
        </p:nvSpPr>
        <p:spPr>
          <a:xfrm>
            <a:off x="477518" y="1161749"/>
            <a:ext cx="31401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Heavy parent category imbalance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Film &amp; Video and Music have over 25000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Dance is only a 10</a:t>
            </a:r>
            <a:r>
              <a:rPr lang="en-US" baseline="30000" dirty="0"/>
              <a:t>th</a:t>
            </a:r>
            <a:r>
              <a:rPr lang="en-US" dirty="0"/>
              <a:t> of this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A02278-5185-337A-48BE-14AB7C249CF6}"/>
              </a:ext>
            </a:extLst>
          </p:cNvPr>
          <p:cNvSpPr txBox="1"/>
          <p:nvPr/>
        </p:nvSpPr>
        <p:spPr>
          <a:xfrm>
            <a:off x="477518" y="2607456"/>
            <a:ext cx="314018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can this imply?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learning could be dominated by common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Niche signals could be obscured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001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DE0AABA5-5E21-651F-DCAB-7789D694E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2BC120A-C522-2DC8-907A-74AB57127987}"/>
              </a:ext>
            </a:extLst>
          </p:cNvPr>
          <p:cNvSpPr txBox="1"/>
          <p:nvPr/>
        </p:nvSpPr>
        <p:spPr>
          <a:xfrm>
            <a:off x="57599" y="4328328"/>
            <a:ext cx="189634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Category vs Success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Goal vs Category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73C4CB-EA8E-8749-8B2B-DD864BA13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419"/>
            <a:ext cx="9144000" cy="32327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62AFE3-6360-4CF1-ED92-3F7A77BE75E3}"/>
              </a:ext>
            </a:extLst>
          </p:cNvPr>
          <p:cNvSpPr txBox="1"/>
          <p:nvPr/>
        </p:nvSpPr>
        <p:spPr>
          <a:xfrm>
            <a:off x="2747661" y="3564462"/>
            <a:ext cx="57584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Feature variation across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Categories have heavy category success rate variation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Categories have large goal amount variation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Further justifies category specific modeling to capture nuances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16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49E2F85B-7210-7735-A41B-0811B909A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FBF135F-3BF5-5CCE-D1EF-1C75840FCF8C}"/>
              </a:ext>
            </a:extLst>
          </p:cNvPr>
          <p:cNvSpPr txBox="1"/>
          <p:nvPr/>
        </p:nvSpPr>
        <p:spPr>
          <a:xfrm>
            <a:off x="57599" y="4328328"/>
            <a:ext cx="189634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Timeline Success Trends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71AC9D-F09A-443A-3C44-A7A30FF52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844" y="342843"/>
            <a:ext cx="4781643" cy="31770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AE3813-7ECC-03BE-F7E5-ADB2DE4C5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7" y="454142"/>
            <a:ext cx="4212577" cy="2798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17244E-A74B-582D-5057-01CBE4CAE785}"/>
              </a:ext>
            </a:extLst>
          </p:cNvPr>
          <p:cNvSpPr txBox="1"/>
          <p:nvPr/>
        </p:nvSpPr>
        <p:spPr>
          <a:xfrm>
            <a:off x="2520176" y="3813717"/>
            <a:ext cx="58655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Categories seem to have generally matched the general trend of success rate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Sharp decline in 2014, gradual increase from there on</a:t>
            </a:r>
          </a:p>
        </p:txBody>
      </p:sp>
    </p:spTree>
    <p:extLst>
      <p:ext uri="{BB962C8B-B14F-4D97-AF65-F5344CB8AC3E}">
        <p14:creationId xmlns:p14="http://schemas.microsoft.com/office/powerpoint/2010/main" val="135752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A30FC162-FE7E-F275-B99C-6103B4CCF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0592B9-2994-CFF1-AA12-DDECD31B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072" y="0"/>
            <a:ext cx="5065219" cy="5143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D40C573-580A-5571-13D1-890EE06FDA82}"/>
              </a:ext>
            </a:extLst>
          </p:cNvPr>
          <p:cNvSpPr txBox="1"/>
          <p:nvPr/>
        </p:nvSpPr>
        <p:spPr>
          <a:xfrm>
            <a:off x="57599" y="4328328"/>
            <a:ext cx="189634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Categorical Slice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Correlation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D3CA2E-ABEB-814C-7C4A-6478A8605834}"/>
              </a:ext>
            </a:extLst>
          </p:cNvPr>
          <p:cNvSpPr txBox="1"/>
          <p:nvPr/>
        </p:nvSpPr>
        <p:spPr>
          <a:xfrm>
            <a:off x="210836" y="1003611"/>
            <a:ext cx="348620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Categorical success rate correlations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differences in linear affect of each feature depending on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 does not appear to be a great linear predictor (but later, we see it have heavy nonlinear importance)</a:t>
            </a:r>
          </a:p>
          <a:p>
            <a:endParaRPr lang="en-US" dirty="0"/>
          </a:p>
          <a:p>
            <a:r>
              <a:rPr lang="en-US" dirty="0"/>
              <a:t>⭐General lack of consistent predictors across categories suggests category specific models may capture different feature importance than a general model.</a:t>
            </a:r>
          </a:p>
        </p:txBody>
      </p:sp>
    </p:spTree>
    <p:extLst>
      <p:ext uri="{BB962C8B-B14F-4D97-AF65-F5344CB8AC3E}">
        <p14:creationId xmlns:p14="http://schemas.microsoft.com/office/powerpoint/2010/main" val="2965361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A2C07FFC-C524-805B-260B-1EBE128A2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>
            <a:extLst>
              <a:ext uri="{FF2B5EF4-FFF2-40B4-BE49-F238E27FC236}">
                <a16:creationId xmlns:a16="http://schemas.microsoft.com/office/drawing/2014/main" id="{C251C8E1-F4D8-761C-F688-3F15728357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713225" y="2727750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latin typeface="Karla"/>
              </a:rPr>
              <a:t>Modeling</a:t>
            </a:r>
            <a:endParaRPr lang="en-US" dirty="0"/>
          </a:p>
        </p:txBody>
      </p:sp>
      <p:sp>
        <p:nvSpPr>
          <p:cNvPr id="197" name="Google Shape;197;p30">
            <a:extLst>
              <a:ext uri="{FF2B5EF4-FFF2-40B4-BE49-F238E27FC236}">
                <a16:creationId xmlns:a16="http://schemas.microsoft.com/office/drawing/2014/main" id="{7F863D51-7210-9B33-271E-29DA22EBA57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 flipH="1">
            <a:off x="3205625" y="1584150"/>
            <a:ext cx="1891200" cy="12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05</a:t>
            </a:r>
            <a:endParaRPr dirty="0">
              <a:latin typeface="Karla"/>
            </a:endParaRPr>
          </a:p>
        </p:txBody>
      </p:sp>
      <p:pic>
        <p:nvPicPr>
          <p:cNvPr id="198" name="Google Shape;198;p30">
            <a:extLst>
              <a:ext uri="{FF2B5EF4-FFF2-40B4-BE49-F238E27FC236}">
                <a16:creationId xmlns:a16="http://schemas.microsoft.com/office/drawing/2014/main" id="{AB6563B2-788B-E548-8F5D-474BDF57365C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5116" b="5116"/>
          <a:stretch/>
        </p:blipFill>
        <p:spPr>
          <a:xfrm>
            <a:off x="6506200" y="1584150"/>
            <a:ext cx="2643299" cy="3559354"/>
          </a:xfrm>
          <a:prstGeom prst="rect">
            <a:avLst/>
          </a:prstGeom>
        </p:spPr>
      </p:pic>
      <p:sp>
        <p:nvSpPr>
          <p:cNvPr id="199" name="Google Shape;199;p30">
            <a:extLst>
              <a:ext uri="{FF2B5EF4-FFF2-40B4-BE49-F238E27FC236}">
                <a16:creationId xmlns:a16="http://schemas.microsoft.com/office/drawing/2014/main" id="{ACC50C2F-B3A9-FF41-AAEE-625E45BCBDBE}"/>
              </a:ext>
            </a:extLst>
          </p:cNvPr>
          <p:cNvSpPr/>
          <p:nvPr/>
        </p:nvSpPr>
        <p:spPr>
          <a:xfrm>
            <a:off x="0" y="1584150"/>
            <a:ext cx="2760600" cy="9258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552422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F35828C8-A6ED-A6E1-6020-4693952D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26F0433-18B6-68E1-13E9-7BD6B3FBA56A}"/>
              </a:ext>
            </a:extLst>
          </p:cNvPr>
          <p:cNvSpPr txBox="1"/>
          <p:nvPr/>
        </p:nvSpPr>
        <p:spPr>
          <a:xfrm>
            <a:off x="57599" y="4328328"/>
            <a:ext cx="189634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Karla"/>
              </a:rPr>
              <a:t>Modeling and Optimization Pipeline</a:t>
            </a:r>
          </a:p>
        </p:txBody>
      </p:sp>
      <p:pic>
        <p:nvPicPr>
          <p:cNvPr id="3" name="Picture 2" descr="A diagram of a software project&#10;&#10;AI-generated content may be incorrect.">
            <a:extLst>
              <a:ext uri="{FF2B5EF4-FFF2-40B4-BE49-F238E27FC236}">
                <a16:creationId xmlns:a16="http://schemas.microsoft.com/office/drawing/2014/main" id="{DD281495-EDEE-C905-D2ED-62A720F1D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33" y="396655"/>
            <a:ext cx="7991395" cy="404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915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BE7F3BC4-A67B-AFA9-6290-667AFF1D2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DA2CD07-C506-CC48-9BEF-026626F4F439}"/>
              </a:ext>
            </a:extLst>
          </p:cNvPr>
          <p:cNvSpPr txBox="1"/>
          <p:nvPr/>
        </p:nvSpPr>
        <p:spPr>
          <a:xfrm>
            <a:off x="35296" y="4350631"/>
            <a:ext cx="189634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Karla"/>
              </a:rPr>
              <a:t>Simplified Modeling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6438AB-D98A-2AE6-D354-B8B1A1196E6F}"/>
              </a:ext>
            </a:extLst>
          </p:cNvPr>
          <p:cNvSpPr txBox="1"/>
          <p:nvPr/>
        </p:nvSpPr>
        <p:spPr>
          <a:xfrm>
            <a:off x="2270387" y="3769112"/>
            <a:ext cx="582093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 err="1"/>
              <a:t>StandardScalar</a:t>
            </a:r>
            <a:r>
              <a:rPr lang="en-US" sz="1100" dirty="0"/>
              <a:t> for numerical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One-hot for categorical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Frequency encoding for high cardinality categorical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Single test holdout (20%), 5-fold stratified CV for optimization</a:t>
            </a:r>
          </a:p>
        </p:txBody>
      </p:sp>
      <p:pic>
        <p:nvPicPr>
          <p:cNvPr id="8" name="Picture 7" descr="A diagram of a machine&#10;&#10;AI-generated content may be incorrect.">
            <a:extLst>
              <a:ext uri="{FF2B5EF4-FFF2-40B4-BE49-F238E27FC236}">
                <a16:creationId xmlns:a16="http://schemas.microsoft.com/office/drawing/2014/main" id="{880D3C10-72F8-DB82-F731-6BDB37236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056" y="331204"/>
            <a:ext cx="7011887" cy="333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13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20631EC1-CCE0-BA5E-50C3-E0CC5F7D1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>
            <a:extLst>
              <a:ext uri="{FF2B5EF4-FFF2-40B4-BE49-F238E27FC236}">
                <a16:creationId xmlns:a16="http://schemas.microsoft.com/office/drawing/2014/main" id="{43CDA8E5-7896-30C8-09CA-074EA32232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713225" y="2727750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latin typeface="Karla"/>
              </a:rPr>
              <a:t>Interpretation and Results</a:t>
            </a:r>
          </a:p>
        </p:txBody>
      </p:sp>
      <p:sp>
        <p:nvSpPr>
          <p:cNvPr id="197" name="Google Shape;197;p30">
            <a:extLst>
              <a:ext uri="{FF2B5EF4-FFF2-40B4-BE49-F238E27FC236}">
                <a16:creationId xmlns:a16="http://schemas.microsoft.com/office/drawing/2014/main" id="{279C5DF5-668A-E9F5-EBC8-BE958193263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 flipH="1">
            <a:off x="3205625" y="1584150"/>
            <a:ext cx="1891200" cy="12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06</a:t>
            </a:r>
            <a:endParaRPr dirty="0">
              <a:latin typeface="Karla"/>
            </a:endParaRPr>
          </a:p>
        </p:txBody>
      </p:sp>
      <p:pic>
        <p:nvPicPr>
          <p:cNvPr id="198" name="Google Shape;198;p30">
            <a:extLst>
              <a:ext uri="{FF2B5EF4-FFF2-40B4-BE49-F238E27FC236}">
                <a16:creationId xmlns:a16="http://schemas.microsoft.com/office/drawing/2014/main" id="{352CC1AD-4222-6E9C-67CE-95438A1F182E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5116" b="5116"/>
          <a:stretch/>
        </p:blipFill>
        <p:spPr>
          <a:xfrm>
            <a:off x="6506200" y="1584150"/>
            <a:ext cx="2643299" cy="3559354"/>
          </a:xfrm>
          <a:prstGeom prst="rect">
            <a:avLst/>
          </a:prstGeom>
        </p:spPr>
      </p:pic>
      <p:sp>
        <p:nvSpPr>
          <p:cNvPr id="199" name="Google Shape;199;p30">
            <a:extLst>
              <a:ext uri="{FF2B5EF4-FFF2-40B4-BE49-F238E27FC236}">
                <a16:creationId xmlns:a16="http://schemas.microsoft.com/office/drawing/2014/main" id="{1B3E6092-423A-C148-7C92-624B39E3D67A}"/>
              </a:ext>
            </a:extLst>
          </p:cNvPr>
          <p:cNvSpPr/>
          <p:nvPr/>
        </p:nvSpPr>
        <p:spPr>
          <a:xfrm>
            <a:off x="0" y="1584150"/>
            <a:ext cx="2760600" cy="9258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3626738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B00D0B51-4C70-CF04-C853-B308D8C1A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69C2CB1D-EE79-73B3-794E-319A48A263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493719"/>
              </p:ext>
            </p:extLst>
          </p:nvPr>
        </p:nvGraphicFramePr>
        <p:xfrm>
          <a:off x="4053303" y="1440989"/>
          <a:ext cx="4709304" cy="463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803904" imgH="374904" progId="Excel.Sheet.12">
                  <p:embed/>
                </p:oleObj>
              </mc:Choice>
              <mc:Fallback>
                <p:oleObj name="Worksheet" r:id="rId3" imgW="3803904" imgH="374904" progId="Excel.Sheet.12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69C2CB1D-EE79-73B3-794E-319A48A263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53303" y="1440989"/>
                        <a:ext cx="4709304" cy="4638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8DF9B7A2-41BD-D116-E3D7-AE3B354D15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695765"/>
              </p:ext>
            </p:extLst>
          </p:nvPr>
        </p:nvGraphicFramePr>
        <p:xfrm>
          <a:off x="4289161" y="2403177"/>
          <a:ext cx="4473446" cy="919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613404" imgH="743204" progId="Excel.Sheet.12">
                  <p:embed/>
                </p:oleObj>
              </mc:Choice>
              <mc:Fallback>
                <p:oleObj name="Worksheet" r:id="rId5" imgW="3613404" imgH="743204" progId="Excel.Sheet.12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8DF9B7A2-41BD-D116-E3D7-AE3B354D15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89161" y="2403177"/>
                        <a:ext cx="4473446" cy="9198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Google Shape;199;p30">
            <a:extLst>
              <a:ext uri="{FF2B5EF4-FFF2-40B4-BE49-F238E27FC236}">
                <a16:creationId xmlns:a16="http://schemas.microsoft.com/office/drawing/2014/main" id="{F4F331FD-2E56-CD9A-5FE5-6420FE0A8394}"/>
              </a:ext>
            </a:extLst>
          </p:cNvPr>
          <p:cNvSpPr/>
          <p:nvPr/>
        </p:nvSpPr>
        <p:spPr>
          <a:xfrm>
            <a:off x="-1" y="674146"/>
            <a:ext cx="2493778" cy="600739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8454DB-6FE4-E709-A5F9-7CB0CD4C9570}"/>
              </a:ext>
            </a:extLst>
          </p:cNvPr>
          <p:cNvSpPr txBox="1"/>
          <p:nvPr/>
        </p:nvSpPr>
        <p:spPr>
          <a:xfrm>
            <a:off x="298717" y="747650"/>
            <a:ext cx="189634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Karla"/>
              </a:rPr>
              <a:t>Overall Results</a:t>
            </a:r>
          </a:p>
          <a:p>
            <a:pPr algn="ctr"/>
            <a:r>
              <a:rPr lang="en-US" sz="1200" dirty="0">
                <a:solidFill>
                  <a:schemeClr val="accent1"/>
                </a:solidFill>
                <a:latin typeface="Karla"/>
              </a:rPr>
              <a:t>(Untuned)</a:t>
            </a:r>
          </a:p>
        </p:txBody>
      </p:sp>
      <p:sp>
        <p:nvSpPr>
          <p:cNvPr id="2" name="Google Shape;207;p31">
            <a:extLst>
              <a:ext uri="{FF2B5EF4-FFF2-40B4-BE49-F238E27FC236}">
                <a16:creationId xmlns:a16="http://schemas.microsoft.com/office/drawing/2014/main" id="{982046F7-2826-8281-4882-E5502B9553C2}"/>
              </a:ext>
            </a:extLst>
          </p:cNvPr>
          <p:cNvSpPr txBox="1">
            <a:spLocks/>
          </p:cNvSpPr>
          <p:nvPr/>
        </p:nvSpPr>
        <p:spPr>
          <a:xfrm>
            <a:off x="381393" y="1994545"/>
            <a:ext cx="3825725" cy="234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○"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■"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○"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■"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○"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■"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>
              <a:buFont typeface="Arial"/>
              <a:buChar char="•"/>
            </a:pPr>
            <a:r>
              <a:rPr lang="en-US" dirty="0"/>
              <a:t>Majority class model shows 62.2% accuracy. If a model does not beat this baseline, we deem it as unpredictive and not useful for our investigation</a:t>
            </a:r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r>
              <a:rPr lang="en" dirty="0"/>
              <a:t>Best model: XGBoost (but not by much)</a:t>
            </a:r>
          </a:p>
          <a:p>
            <a:pPr marL="285750" indent="-285750">
              <a:buFont typeface="Arial"/>
              <a:buChar char="•"/>
            </a:pPr>
            <a:endParaRPr lang="en" dirty="0"/>
          </a:p>
        </p:txBody>
      </p:sp>
      <p:sp>
        <p:nvSpPr>
          <p:cNvPr id="3" name="Google Shape;208;p31">
            <a:extLst>
              <a:ext uri="{FF2B5EF4-FFF2-40B4-BE49-F238E27FC236}">
                <a16:creationId xmlns:a16="http://schemas.microsoft.com/office/drawing/2014/main" id="{DFE3F88B-BAB7-E6B7-2619-69CE9F1174BC}"/>
              </a:ext>
            </a:extLst>
          </p:cNvPr>
          <p:cNvSpPr txBox="1">
            <a:spLocks/>
          </p:cNvSpPr>
          <p:nvPr/>
        </p:nvSpPr>
        <p:spPr>
          <a:xfrm>
            <a:off x="733187" y="1431144"/>
            <a:ext cx="3473931" cy="47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b="1" dirty="0">
                <a:latin typeface="Karla"/>
              </a:rPr>
              <a:t>Na</a:t>
            </a:r>
            <a:r>
              <a:rPr lang="en-US" b="1" dirty="0">
                <a:latin typeface="Karla"/>
              </a:rPr>
              <a:t>ï</a:t>
            </a:r>
            <a:r>
              <a:rPr lang="en" b="1" dirty="0">
                <a:latin typeface="Karla"/>
              </a:rPr>
              <a:t>ve Majority and Baseline Models</a:t>
            </a:r>
          </a:p>
        </p:txBody>
      </p:sp>
    </p:spTree>
    <p:extLst>
      <p:ext uri="{BB962C8B-B14F-4D97-AF65-F5344CB8AC3E}">
        <p14:creationId xmlns:p14="http://schemas.microsoft.com/office/powerpoint/2010/main" val="4210536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68B7DCE6-6DE2-224E-AA5B-30CF5F726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8017B985-B412-9C90-B81A-3C55B608B4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191662"/>
              </p:ext>
            </p:extLst>
          </p:nvPr>
        </p:nvGraphicFramePr>
        <p:xfrm>
          <a:off x="1106981" y="2322200"/>
          <a:ext cx="6149915" cy="499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616704" imgH="374904" progId="Excel.Sheet.12">
                  <p:embed/>
                </p:oleObj>
              </mc:Choice>
              <mc:Fallback>
                <p:oleObj name="Worksheet" r:id="rId3" imgW="4616704" imgH="374904" progId="Excel.Sheet.12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8017B985-B412-9C90-B81A-3C55B608B4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6981" y="2322200"/>
                        <a:ext cx="6149915" cy="499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14DDCD33-0AFF-588F-D0EE-E4A7CB505F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1205994"/>
              </p:ext>
            </p:extLst>
          </p:nvPr>
        </p:nvGraphicFramePr>
        <p:xfrm>
          <a:off x="2731170" y="1659869"/>
          <a:ext cx="4525726" cy="499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397504" imgH="374904" progId="Excel.Sheet.12">
                  <p:embed/>
                </p:oleObj>
              </mc:Choice>
              <mc:Fallback>
                <p:oleObj name="Worksheet" r:id="rId5" imgW="3397504" imgH="374904" progId="Excel.Sheet.12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14DDCD33-0AFF-588F-D0EE-E4A7CB505F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31170" y="1659869"/>
                        <a:ext cx="4525726" cy="499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oogle Shape;199;p30">
            <a:extLst>
              <a:ext uri="{FF2B5EF4-FFF2-40B4-BE49-F238E27FC236}">
                <a16:creationId xmlns:a16="http://schemas.microsoft.com/office/drawing/2014/main" id="{9CC2DEAB-E3C4-9805-3255-48458737369E}"/>
              </a:ext>
            </a:extLst>
          </p:cNvPr>
          <p:cNvSpPr/>
          <p:nvPr/>
        </p:nvSpPr>
        <p:spPr>
          <a:xfrm>
            <a:off x="-1" y="674146"/>
            <a:ext cx="2493778" cy="600739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895A2B-AB08-3F2D-D6D2-CEC974345530}"/>
              </a:ext>
            </a:extLst>
          </p:cNvPr>
          <p:cNvSpPr txBox="1"/>
          <p:nvPr/>
        </p:nvSpPr>
        <p:spPr>
          <a:xfrm>
            <a:off x="298717" y="743682"/>
            <a:ext cx="189634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Karla"/>
              </a:rPr>
              <a:t>Overall Results</a:t>
            </a:r>
            <a:br>
              <a:rPr lang="en-US" sz="1200" dirty="0">
                <a:solidFill>
                  <a:schemeClr val="accent1"/>
                </a:solidFill>
                <a:latin typeface="Karla"/>
              </a:rPr>
            </a:br>
            <a:r>
              <a:rPr lang="en-US" sz="1200" dirty="0">
                <a:solidFill>
                  <a:schemeClr val="accent1"/>
                </a:solidFill>
                <a:latin typeface="Karla"/>
              </a:rPr>
              <a:t>(Tuned + Ensemble)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00607F-976E-CEC0-A5C3-116AE5F255CB}"/>
              </a:ext>
            </a:extLst>
          </p:cNvPr>
          <p:cNvSpPr txBox="1"/>
          <p:nvPr/>
        </p:nvSpPr>
        <p:spPr>
          <a:xfrm>
            <a:off x="1789233" y="3096379"/>
            <a:ext cx="60051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Virtually identical performance</a:t>
            </a:r>
            <a:r>
              <a:rPr lang="en-US" dirty="0"/>
              <a:t>: </a:t>
            </a:r>
          </a:p>
          <a:p>
            <a:r>
              <a:rPr lang="en-US" dirty="0"/>
              <a:t>Both our tuned </a:t>
            </a:r>
            <a:r>
              <a:rPr lang="en-US" dirty="0" err="1"/>
              <a:t>XGBoost</a:t>
            </a:r>
            <a:r>
              <a:rPr lang="en-US" dirty="0"/>
              <a:t> and ensemble of tuned </a:t>
            </a:r>
            <a:r>
              <a:rPr lang="en-US" dirty="0" err="1"/>
              <a:t>XGBoost</a:t>
            </a:r>
            <a:r>
              <a:rPr lang="en-US" dirty="0"/>
              <a:t> models (on categorical slices) performed virtually equally.</a:t>
            </a:r>
          </a:p>
        </p:txBody>
      </p:sp>
    </p:spTree>
    <p:extLst>
      <p:ext uri="{BB962C8B-B14F-4D97-AF65-F5344CB8AC3E}">
        <p14:creationId xmlns:p14="http://schemas.microsoft.com/office/powerpoint/2010/main" val="4266446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015C4A27-ADF3-E642-EA38-F6E933788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9;p30">
            <a:extLst>
              <a:ext uri="{FF2B5EF4-FFF2-40B4-BE49-F238E27FC236}">
                <a16:creationId xmlns:a16="http://schemas.microsoft.com/office/drawing/2014/main" id="{F8C3E6B5-CF71-DC17-8A3D-5E262520EC51}"/>
              </a:ext>
            </a:extLst>
          </p:cNvPr>
          <p:cNvSpPr/>
          <p:nvPr/>
        </p:nvSpPr>
        <p:spPr>
          <a:xfrm>
            <a:off x="0" y="4485611"/>
            <a:ext cx="2493778" cy="600739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F22CA84-B7FD-D322-35A7-A90888A7BE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1946"/>
              </p:ext>
            </p:extLst>
          </p:nvPr>
        </p:nvGraphicFramePr>
        <p:xfrm>
          <a:off x="351326" y="363538"/>
          <a:ext cx="4135437" cy="405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200400" imgH="3136900" progId="Excel.Sheet.12">
                  <p:embed/>
                </p:oleObj>
              </mc:Choice>
              <mc:Fallback>
                <p:oleObj name="Worksheet" r:id="rId3" imgW="3200400" imgH="3136900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F22CA84-B7FD-D322-35A7-A90888A7BE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1326" y="363538"/>
                        <a:ext cx="4135437" cy="4054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674C3EE-2228-BE08-2D49-52D0E8E17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53830" y="363538"/>
          <a:ext cx="4076700" cy="401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181604" imgH="3136900" progId="Excel.Sheet.12">
                  <p:embed/>
                </p:oleObj>
              </mc:Choice>
              <mc:Fallback>
                <p:oleObj name="Worksheet" r:id="rId5" imgW="3181604" imgH="3136900" progId="Excel.Sheet.12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674C3EE-2228-BE08-2D49-52D0E8E17D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53830" y="363538"/>
                        <a:ext cx="4076700" cy="4019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60393F7-2928-FFE2-E817-FB15D308AA2F}"/>
              </a:ext>
            </a:extLst>
          </p:cNvPr>
          <p:cNvSpPr txBox="1"/>
          <p:nvPr/>
        </p:nvSpPr>
        <p:spPr>
          <a:xfrm>
            <a:off x="59530" y="4549129"/>
            <a:ext cx="2374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Karla"/>
              </a:rPr>
              <a:t>Category Specific Results (Tuned XGB vs Ensemble)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0CA2F9-AEAD-0CA1-33BB-091E33627D1E}"/>
              </a:ext>
            </a:extLst>
          </p:cNvPr>
          <p:cNvSpPr txBox="1"/>
          <p:nvPr/>
        </p:nvSpPr>
        <p:spPr>
          <a:xfrm>
            <a:off x="1572725" y="86267"/>
            <a:ext cx="2272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 XGB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8BE02-30C5-443C-8A29-7C10040BB8F8}"/>
              </a:ext>
            </a:extLst>
          </p:cNvPr>
          <p:cNvSpPr txBox="1"/>
          <p:nvPr/>
        </p:nvSpPr>
        <p:spPr>
          <a:xfrm>
            <a:off x="5584949" y="86266"/>
            <a:ext cx="2775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Category XGB Ensemble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9FDA6A-3651-D934-9043-4AC319518F68}"/>
              </a:ext>
            </a:extLst>
          </p:cNvPr>
          <p:cNvSpPr txBox="1"/>
          <p:nvPr/>
        </p:nvSpPr>
        <p:spPr>
          <a:xfrm>
            <a:off x="2709130" y="4418013"/>
            <a:ext cx="45741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Again, virtually identical, even across categories!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6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166315FA-5D50-F30F-285F-E84B690D7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>
            <a:extLst>
              <a:ext uri="{FF2B5EF4-FFF2-40B4-BE49-F238E27FC236}">
                <a16:creationId xmlns:a16="http://schemas.microsoft.com/office/drawing/2014/main" id="{8A5D1E80-6615-90F9-697A-C870FA6CD2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Interpretations</a:t>
            </a:r>
            <a:endParaRPr dirty="0">
              <a:latin typeface="Karla"/>
            </a:endParaRPr>
          </a:p>
        </p:txBody>
      </p:sp>
      <p:sp>
        <p:nvSpPr>
          <p:cNvPr id="207" name="Google Shape;207;p31">
            <a:extLst>
              <a:ext uri="{FF2B5EF4-FFF2-40B4-BE49-F238E27FC236}">
                <a16:creationId xmlns:a16="http://schemas.microsoft.com/office/drawing/2014/main" id="{57333D14-B921-92F5-1C2B-8F9B2304C47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5604" y="1770269"/>
            <a:ext cx="5310346" cy="23402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Are models trained within specific categories more predictive within their category than models trained generally?</a:t>
            </a:r>
            <a:endParaRPr lang="en" dirty="0"/>
          </a:p>
          <a:p>
            <a:pPr marL="0" indent="0"/>
            <a:r>
              <a:rPr lang="en-US" b="1" dirty="0"/>
              <a:t>Answer:</a:t>
            </a:r>
          </a:p>
          <a:p>
            <a:pPr marL="0" indent="0"/>
            <a:r>
              <a:rPr lang="en-US" dirty="0">
                <a:solidFill>
                  <a:srgbClr val="FF0000"/>
                </a:solidFill>
              </a:rPr>
              <a:t>No</a:t>
            </a:r>
            <a:r>
              <a:rPr lang="en-US" dirty="0"/>
              <a:t>, at both</a:t>
            </a:r>
            <a:r>
              <a:rPr lang="en-US" b="1" dirty="0"/>
              <a:t> </a:t>
            </a:r>
            <a:r>
              <a:rPr lang="en-US" dirty="0"/>
              <a:t>aggregate and the category level, results show no clear advantage in terms of predictive power from either side.</a:t>
            </a:r>
          </a:p>
          <a:p>
            <a:pPr marL="0" indent="0"/>
            <a:endParaRPr lang="en-US" b="1" dirty="0"/>
          </a:p>
          <a:p>
            <a:pPr marL="0" indent="0"/>
            <a:r>
              <a:rPr lang="en-US" dirty="0"/>
              <a:t>Do different categories of Kickstarter campaigns have different predictive patterns for success?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Let’s do further investigation, EDA suggests yes</a:t>
            </a:r>
          </a:p>
          <a:p>
            <a:pPr marL="0" indent="0"/>
            <a:endParaRPr lang="en-US" dirty="0"/>
          </a:p>
        </p:txBody>
      </p:sp>
      <p:sp>
        <p:nvSpPr>
          <p:cNvPr id="208" name="Google Shape;208;p31">
            <a:extLst>
              <a:ext uri="{FF2B5EF4-FFF2-40B4-BE49-F238E27FC236}">
                <a16:creationId xmlns:a16="http://schemas.microsoft.com/office/drawing/2014/main" id="{D666F5AB-3940-CC68-2A0A-953F4A8FE6E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06812" y="1372774"/>
            <a:ext cx="5515568" cy="47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dirty="0">
                <a:latin typeface="Karla"/>
              </a:rPr>
              <a:t>What does this say about our research questions?</a:t>
            </a:r>
          </a:p>
        </p:txBody>
      </p:sp>
      <p:sp>
        <p:nvSpPr>
          <p:cNvPr id="209" name="Google Shape;209;p31">
            <a:extLst>
              <a:ext uri="{FF2B5EF4-FFF2-40B4-BE49-F238E27FC236}">
                <a16:creationId xmlns:a16="http://schemas.microsoft.com/office/drawing/2014/main" id="{C46C13CE-7557-D6F5-4247-2564D9769F2B}"/>
              </a:ext>
            </a:extLst>
          </p:cNvPr>
          <p:cNvSpPr/>
          <p:nvPr/>
        </p:nvSpPr>
        <p:spPr>
          <a:xfrm flipH="1">
            <a:off x="7101350" y="1936238"/>
            <a:ext cx="2531700" cy="17556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4080202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>
            <a:spLocks noGrp="1"/>
          </p:cNvSpPr>
          <p:nvPr>
            <p:ph type="subTitle" idx="5"/>
          </p:nvPr>
        </p:nvSpPr>
        <p:spPr>
          <a:xfrm>
            <a:off x="4969799" y="1230079"/>
            <a:ext cx="3798079" cy="9767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Sample of 10,000 for overall model SHAP values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Full categorical slice for category specific model model SHAP values</a:t>
            </a:r>
          </a:p>
          <a:p>
            <a:pPr marL="0" indent="0"/>
            <a:endParaRPr lang="en" dirty="0"/>
          </a:p>
          <a:p>
            <a:pPr marL="0" indent="0"/>
            <a:r>
              <a:rPr lang="en-US" dirty="0"/>
              <a:t>Different feature importances and relationships with success, even if overall predictive performance is similar!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" dirty="0"/>
          </a:p>
        </p:txBody>
      </p:sp>
      <p:sp>
        <p:nvSpPr>
          <p:cNvPr id="261" name="Google Shape;261;p35"/>
          <p:cNvSpPr/>
          <p:nvPr/>
        </p:nvSpPr>
        <p:spPr>
          <a:xfrm flipH="1">
            <a:off x="4969799" y="285418"/>
            <a:ext cx="4174200" cy="8247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7540D5-D370-3B72-9423-7B9F674537DA}"/>
              </a:ext>
            </a:extLst>
          </p:cNvPr>
          <p:cNvSpPr txBox="1"/>
          <p:nvPr/>
        </p:nvSpPr>
        <p:spPr>
          <a:xfrm>
            <a:off x="5492106" y="405380"/>
            <a:ext cx="312958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Karla"/>
              </a:rPr>
              <a:t>Top 10 SHAP values </a:t>
            </a:r>
            <a:br>
              <a:rPr lang="en-US" sz="1600" dirty="0">
                <a:solidFill>
                  <a:schemeClr val="accent1"/>
                </a:solidFill>
                <a:latin typeface="Karla"/>
              </a:rPr>
            </a:br>
            <a:r>
              <a:rPr lang="en-US" sz="1600" dirty="0">
                <a:solidFill>
                  <a:schemeClr val="accent1"/>
                </a:solidFill>
                <a:latin typeface="Karla"/>
              </a:rPr>
              <a:t>(overall vs category specific)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88A0003-CF49-06A0-18FF-1941B0DDD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2" y="2774529"/>
            <a:ext cx="3492599" cy="20835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596F663-CA48-2F57-A27A-604809FE6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02" y="596648"/>
            <a:ext cx="3492601" cy="20835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D7F4DA5-5DEA-4186-3F64-C0938D763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9800" y="2774530"/>
            <a:ext cx="3492599" cy="208355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99612630-DA0B-4D0A-73D0-49A54049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>
            <a:extLst>
              <a:ext uri="{FF2B5EF4-FFF2-40B4-BE49-F238E27FC236}">
                <a16:creationId xmlns:a16="http://schemas.microsoft.com/office/drawing/2014/main" id="{E61256E2-1C59-82D1-4FF8-9DD38CC595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Interpretations Pt.2</a:t>
            </a:r>
            <a:endParaRPr dirty="0">
              <a:latin typeface="Karla"/>
            </a:endParaRPr>
          </a:p>
        </p:txBody>
      </p:sp>
      <p:sp>
        <p:nvSpPr>
          <p:cNvPr id="207" name="Google Shape;207;p31">
            <a:extLst>
              <a:ext uri="{FF2B5EF4-FFF2-40B4-BE49-F238E27FC236}">
                <a16:creationId xmlns:a16="http://schemas.microsoft.com/office/drawing/2014/main" id="{FCD77268-9DCA-2C39-DFA6-914F758F868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5604" y="1770269"/>
            <a:ext cx="5310346" cy="23402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Are models trained within specific categories more predictive within their category than models trained generally?</a:t>
            </a:r>
            <a:endParaRPr lang="en" dirty="0"/>
          </a:p>
          <a:p>
            <a:pPr marL="0" indent="0"/>
            <a:r>
              <a:rPr lang="en-US" b="1" dirty="0"/>
              <a:t>Answer:</a:t>
            </a:r>
          </a:p>
          <a:p>
            <a:pPr marL="0" indent="0"/>
            <a:r>
              <a:rPr lang="en-US" dirty="0">
                <a:solidFill>
                  <a:srgbClr val="FF0000"/>
                </a:solidFill>
              </a:rPr>
              <a:t>No</a:t>
            </a:r>
            <a:r>
              <a:rPr lang="en-US" dirty="0"/>
              <a:t>, at both</a:t>
            </a:r>
            <a:r>
              <a:rPr lang="en-US" b="1" dirty="0"/>
              <a:t> </a:t>
            </a:r>
            <a:r>
              <a:rPr lang="en-US" dirty="0"/>
              <a:t>aggregate and the category level, results show no clear advantage in terms of predictive power from either side.</a:t>
            </a:r>
          </a:p>
          <a:p>
            <a:pPr marL="0" indent="0"/>
            <a:endParaRPr lang="en-US" b="1" dirty="0"/>
          </a:p>
          <a:p>
            <a:pPr marL="0" indent="0"/>
            <a:r>
              <a:rPr lang="en-US" dirty="0"/>
              <a:t>Do different categories of Kickstarter campaigns have different predictive patterns for success?</a:t>
            </a:r>
          </a:p>
          <a:p>
            <a:pPr marL="0" indent="0"/>
            <a:r>
              <a:rPr lang="en-US" b="1" dirty="0"/>
              <a:t>Answer:</a:t>
            </a:r>
          </a:p>
          <a:p>
            <a:pPr marL="0" indent="0"/>
            <a:r>
              <a:rPr lang="en-US" dirty="0">
                <a:solidFill>
                  <a:srgbClr val="00B050"/>
                </a:solidFill>
              </a:rPr>
              <a:t>Yes</a:t>
            </a:r>
            <a:r>
              <a:rPr lang="en-US" dirty="0"/>
              <a:t>, different categories exhibit different predictive patterns for success, as evidenced by SHAP analysis as well as bivariate and correlation analysis from EDA.</a:t>
            </a:r>
          </a:p>
          <a:p>
            <a:pPr marL="0" indent="0"/>
            <a:endParaRPr lang="en-US" dirty="0"/>
          </a:p>
        </p:txBody>
      </p:sp>
      <p:sp>
        <p:nvSpPr>
          <p:cNvPr id="208" name="Google Shape;208;p31">
            <a:extLst>
              <a:ext uri="{FF2B5EF4-FFF2-40B4-BE49-F238E27FC236}">
                <a16:creationId xmlns:a16="http://schemas.microsoft.com/office/drawing/2014/main" id="{89B1E1AF-5BBB-A0B0-4405-DC3A9C281F9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06812" y="1372774"/>
            <a:ext cx="5515568" cy="47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dirty="0">
                <a:latin typeface="Karla"/>
              </a:rPr>
              <a:t>What does this say about our research questions?</a:t>
            </a:r>
          </a:p>
        </p:txBody>
      </p:sp>
      <p:sp>
        <p:nvSpPr>
          <p:cNvPr id="209" name="Google Shape;209;p31">
            <a:extLst>
              <a:ext uri="{FF2B5EF4-FFF2-40B4-BE49-F238E27FC236}">
                <a16:creationId xmlns:a16="http://schemas.microsoft.com/office/drawing/2014/main" id="{82F3CDA7-1AAA-DAD7-65BF-9EEA36808EB5}"/>
              </a:ext>
            </a:extLst>
          </p:cNvPr>
          <p:cNvSpPr/>
          <p:nvPr/>
        </p:nvSpPr>
        <p:spPr>
          <a:xfrm flipH="1">
            <a:off x="7101350" y="1936238"/>
            <a:ext cx="2531700" cy="17556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3053630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>
            <a:spLocks noGrp="1"/>
          </p:cNvSpPr>
          <p:nvPr>
            <p:ph type="title"/>
          </p:nvPr>
        </p:nvSpPr>
        <p:spPr>
          <a:xfrm>
            <a:off x="768358" y="14033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227" name="Google Shape;227;p33"/>
          <p:cNvSpPr txBox="1">
            <a:spLocks noGrp="1"/>
          </p:cNvSpPr>
          <p:nvPr>
            <p:ph type="subTitle" idx="1"/>
          </p:nvPr>
        </p:nvSpPr>
        <p:spPr>
          <a:xfrm>
            <a:off x="761584" y="1996912"/>
            <a:ext cx="7606315" cy="16343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Taking these findings together, we can see a nuanced picture:</a:t>
            </a:r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dirty="0"/>
              <a:t>If the goal is purely predictive power (forecasting campaign outcomes), both general and category-specific models perform similarly, with no clear advantage to specialization.</a:t>
            </a:r>
          </a:p>
          <a:p>
            <a:pPr marL="152400" indent="0"/>
            <a:endParaRPr lang="en-US" dirty="0"/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dirty="0"/>
              <a:t>However, if the goal includes interpretability and understanding category-specific dynamics, then category-specific models may still be valuable for providing domain specific insights without loss of predictive accuracy.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5"/>
          <p:cNvSpPr txBox="1">
            <a:spLocks noGrp="1"/>
          </p:cNvSpPr>
          <p:nvPr>
            <p:ph type="title"/>
          </p:nvPr>
        </p:nvSpPr>
        <p:spPr>
          <a:xfrm>
            <a:off x="3982675" y="539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446" name="Google Shape;446;p45"/>
          <p:cNvSpPr txBox="1"/>
          <p:nvPr/>
        </p:nvSpPr>
        <p:spPr>
          <a:xfrm>
            <a:off x="4279075" y="434360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Please keep this slide for attribution</a:t>
            </a:r>
            <a:endParaRPr sz="1200"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47" name="Google Shape;447;p45"/>
          <p:cNvSpPr/>
          <p:nvPr/>
        </p:nvSpPr>
        <p:spPr>
          <a:xfrm>
            <a:off x="0" y="768200"/>
            <a:ext cx="2570100" cy="1877100"/>
          </a:xfrm>
          <a:prstGeom prst="snip1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rla"/>
              </a:rPr>
              <a:t>References</a:t>
            </a:r>
            <a:endParaRPr dirty="0">
              <a:latin typeface="Karla"/>
            </a:endParaRPr>
          </a:p>
        </p:txBody>
      </p:sp>
      <p:sp>
        <p:nvSpPr>
          <p:cNvPr id="471" name="Google Shape;471;p47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" dirty="0">
                <a:hlinkClick r:id="rId3"/>
              </a:rPr>
              <a:t>Kickstarter Stats — Kickstarter</a:t>
            </a:r>
            <a:endParaRPr lang="en-US" dirty="0"/>
          </a:p>
          <a:p>
            <a:pPr marL="171450" indent="-171450"/>
            <a:r>
              <a:rPr lang="en" dirty="0">
                <a:hlinkClick r:id="rId4"/>
              </a:rPr>
              <a:t>Frosthaven by Isaac Childres — Kickstarter</a:t>
            </a:r>
            <a:endParaRPr lang="en" dirty="0"/>
          </a:p>
          <a:p>
            <a:pPr marL="171450" indent="-171450"/>
            <a:r>
              <a:rPr lang="en" dirty="0">
                <a:hlinkClick r:id="rId5"/>
              </a:rPr>
              <a:t>Exploding Kittens by Exploding Kittens — Kickstarter</a:t>
            </a:r>
            <a:endParaRPr lang="en" dirty="0"/>
          </a:p>
          <a:p>
            <a:pPr marL="171450" indent="-171450"/>
            <a:r>
              <a:rPr lang="en" dirty="0">
                <a:hlinkClick r:id="rId6"/>
              </a:rPr>
              <a:t>Snapmaker U1 Color 3D Printer: 5X More Speed. 5X Less Waste. by Snapmaker — Kickstarter</a:t>
            </a:r>
            <a:endParaRPr lang="en" dirty="0"/>
          </a:p>
          <a:p>
            <a:pPr marL="171450" indent="-171450"/>
            <a:r>
              <a:rPr lang="en" dirty="0">
                <a:hlinkClick r:id="rId7"/>
              </a:rPr>
              <a:t>Dataset: Kickstarter Datasets – Web Scraping Service</a:t>
            </a:r>
            <a:endParaRPr lang="e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chrome Minimalist Pitch Deck by Slidesgo">
  <a:themeElements>
    <a:clrScheme name="Simple Light">
      <a:dk1>
        <a:srgbClr val="191919"/>
      </a:dk1>
      <a:lt1>
        <a:srgbClr val="9E9C9D"/>
      </a:lt1>
      <a:dk2>
        <a:srgbClr val="D5D4D2"/>
      </a:dk2>
      <a:lt2>
        <a:srgbClr val="E9E7E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22177130-642f-41d9-9211-74237ad5687d}" enabled="0" method="" siteId="{22177130-642f-41d9-9211-74237ad5687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2289</TotalTime>
  <Words>1306</Words>
  <Application>Microsoft Office PowerPoint</Application>
  <PresentationFormat>On-screen Show (16:9)</PresentationFormat>
  <Paragraphs>205</Paragraphs>
  <Slides>31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Karla</vt:lpstr>
      <vt:lpstr>Manrope</vt:lpstr>
      <vt:lpstr>Consolas</vt:lpstr>
      <vt:lpstr>Arial</vt:lpstr>
      <vt:lpstr>PT Sans</vt:lpstr>
      <vt:lpstr>Courier New</vt:lpstr>
      <vt:lpstr>Raleway</vt:lpstr>
      <vt:lpstr>Nunito Light</vt:lpstr>
      <vt:lpstr>Monochrome Minimalist Pitch Deck by Slidesgo</vt:lpstr>
      <vt:lpstr>Worksheet</vt:lpstr>
      <vt:lpstr>Microsoft Excel Worksheet</vt:lpstr>
      <vt:lpstr>General vs Category-Specific:  Kickstarter Campaign Success Prediction</vt:lpstr>
      <vt:lpstr>Table of contents</vt:lpstr>
      <vt:lpstr>Background</vt:lpstr>
      <vt:lpstr>Background</vt:lpstr>
      <vt:lpstr>Research Question</vt:lpstr>
      <vt:lpstr>Dataset</vt:lpstr>
      <vt:lpstr>Origin</vt:lpstr>
      <vt:lpstr>Shape and Target</vt:lpstr>
      <vt:lpstr>Preprocessing</vt:lpstr>
      <vt:lpstr>PowerPoint Presentation</vt:lpstr>
      <vt:lpstr>Integrity Analysis</vt:lpstr>
      <vt:lpstr>Filtering and Engineering</vt:lpstr>
      <vt:lpstr>Exploratory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Modeling</vt:lpstr>
      <vt:lpstr>PowerPoint Presentation</vt:lpstr>
      <vt:lpstr>PowerPoint Presentation</vt:lpstr>
      <vt:lpstr>Interpretation and Results</vt:lpstr>
      <vt:lpstr>PowerPoint Presentation</vt:lpstr>
      <vt:lpstr>PowerPoint Presentation</vt:lpstr>
      <vt:lpstr>PowerPoint Presentation</vt:lpstr>
      <vt:lpstr>Interpretations</vt:lpstr>
      <vt:lpstr>PowerPoint Presentation</vt:lpstr>
      <vt:lpstr>Interpretations Pt.2</vt:lpstr>
      <vt:lpstr>Conclusion</vt:lpstr>
      <vt:lpstr>Thanks!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Grommash Hellscream</dc:creator>
  <cp:lastModifiedBy>Chen, Alex</cp:lastModifiedBy>
  <cp:revision>499</cp:revision>
  <dcterms:modified xsi:type="dcterms:W3CDTF">2025-12-02T04:10:36Z</dcterms:modified>
</cp:coreProperties>
</file>